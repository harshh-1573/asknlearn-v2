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448" r:id="rId5"/>
    <p:sldId id="2462" r:id="rId6"/>
    <p:sldId id="2476" r:id="rId7"/>
    <p:sldId id="2477" r:id="rId8"/>
    <p:sldId id="2478" r:id="rId9"/>
    <p:sldId id="2479" r:id="rId10"/>
    <p:sldId id="2451" r:id="rId11"/>
    <p:sldId id="2463" r:id="rId12"/>
    <p:sldId id="2432" r:id="rId13"/>
    <p:sldId id="2475" r:id="rId14"/>
    <p:sldId id="243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7DF43A-3AA8-46B5-99F9-5F8953F43141}" v="14" dt="2024-02-22T02:56:59.6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51" d="100"/>
          <a:sy n="51" d="100"/>
        </p:scale>
        <p:origin x="888" y="43"/>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4/20/2024</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0T08:50:12.559"/>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 29,'13'-1,"1"-1,-1 0,26-8,-31 7,1 1,-1-1,1 1,-1 1,1 0,0 0,0 0,-1 1,1 1,0-1,0 1,8 3,-15-3,1 1,-1-1,1 1,-1 0,0 0,1 0,-1 0,0 0,-1 0,1 0,0 1,-1-1,1 1,-1-1,0 1,1 0,0 4,14 58,-11-37,27 65,-20-56,12 73,-18-88,-3-13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0T08:50:14.456"/>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0T08:50:14.846"/>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0T08:50:15.197"/>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0,'0'0</inkml:trace>
  <inkml:trace contextRef="#ctx0" brushRef="#br0" timeOffset="1.64">0 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10T08:50:15.547"/>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0 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0T08:50:50.360"/>
    </inkml:context>
    <inkml:brush xml:id="br0">
      <inkml:brushProperty name="width" value="0.035" units="cm"/>
      <inkml:brushProperty name="height" value="0.035" units="cm"/>
      <inkml:brushProperty name="color" value="#FFFFFF"/>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0T08:50:50.695"/>
    </inkml:context>
    <inkml:brush xml:id="br0">
      <inkml:brushProperty name="width" value="0.035" units="cm"/>
      <inkml:brushProperty name="height" value="0.035" units="cm"/>
      <inkml:brushProperty name="color" value="#FFFFFF"/>
    </inkml:brush>
  </inkml:definitions>
  <inkml:trace contextRef="#ctx0" brushRef="#br0">1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10T08:51:16.280"/>
    </inkml:context>
    <inkml:brush xml:id="br0">
      <inkml:brushProperty name="width" value="0.035" units="cm"/>
      <inkml:brushProperty name="height" value="0.035" units="cm"/>
      <inkml:brushProperty name="color" value="#FFFFFF"/>
    </inkml:brush>
  </inkml:definitions>
  <inkml:trace contextRef="#ctx0" brushRef="#br0">292 136 24575,'24'56'0,"2"-1"0,39 58 0,-29-51 0,-44-79 0,-12-36 0,10 23 0,-49-136 0,59 166 0,0 0 0,0 0 0,0 0 0,0 0 0,0 0 0,0 0 0,0 0 0,-1 1 0,1-1 0,0 0 0,0 0 0,0 0 0,0 0 0,0 0 0,0 0 0,0 0 0,0 0 0,0 0 0,0 0 0,0 0 0,0 0 0,0 0 0,0 0 0,0 0 0,0 1 0,-1-1 0,1 0 0,0 0 0,0 0 0,0 0 0,0 0 0,0 0 0,0 0 0,0 0 0,0 0 0,0 0 0,0 0 0,-1 0 0,1 0 0,0 0 0,0 0 0,0 0 0,0 0 0,0 0 0,0-1 0,0 1 0,0 0 0,0 0 0,0 0 0,0 0 0,-1 0 0,1 0 0,0 0 0,0 0 0,0 0 0,0 0 0,0 0 0,0 0 0,0 0 0,-4 15 0,-2 24 0,6-35 0,0-3 0,-10 51 0,9-49 0,1 0 0,-1-1 0,0 1 0,0-1 0,0 1 0,0-1 0,0 1 0,-1-1 0,1 0 0,-1 1 0,1-1 0,-1 0 0,0 0 0,0 0 0,0 0 0,-4 3 0,4-5 0,0 0 0,0 0 0,0 0 0,0 0 0,0 0 0,0 0 0,0-1 0,0 1 0,0-1 0,1 1 0,-1-1 0,0 0 0,0 0 0,0 0 0,1 0 0,-1 0 0,0 0 0,1 0 0,-1 0 0,1-1 0,-1 1 0,1-1 0,0 1 0,-2-3 0,-31-43 0,32 44 0,-38-75 0,23 40 0,14 96 0,3-56 0,0-1 0,0 1 0,1-1 0,-1 0 0,0 1 0,-1-1 0,1 1 0,0-1 0,0 0 0,-1 1 0,1-1 0,0 1 0,-1-1 0,0 0 0,1 1 0,-1-1 0,0 0 0,1 0 0,-1 0 0,0 0 0,0 1 0,0-1 0,0 0 0,0-1 0,0 1 0,-1 0 0,1 0 0,0 0 0,0-1 0,-1 1 0,1 0 0,-2 0 0,0-1 0,0 0 0,0 0 0,1 0 0,-1-1 0,0 1 0,1-1 0,-1 1 0,0-1 0,1 0 0,-1 0 0,1 0 0,-1-1 0,1 1 0,0 0 0,-1-1 0,-3-3 0,-3-4 0,1 1 0,0-1 0,0-1 0,1 0 0,0 0 0,-9-17 0,1 1 0,18 57 0,-3-16 0,3 33 0,-2-27 0,1-1 0,5 29 0,-8-59 0,0 0 0,1 0 0,-1 0 0,3-16 0,0-6 0,-2 26 0,0 0 0,0 1 0,0-1 0,1 1 0,0-1 0,1 0 0,2-7 0,-4 12 0,1 0 0,-1 0 0,1 0 0,-1 0 0,1 1 0,-1-1 0,1 0 0,0 0 0,0 1 0,-1-1 0,1 0 0,0 1 0,0-1 0,0 1 0,-1-1 0,1 1 0,0-1 0,0 1 0,2-1 0,-2 1 0,1 0 0,0 0 0,0 0 0,0 0 0,-1 1 0,1-1 0,0 0 0,0 1 0,-1 0 0,1-1 0,0 1 0,-1 0 0,1 0 0,2 1 0,0 1 0,-1 0 0,0 0 0,0 0 0,0 1 0,0-1 0,0 1 0,-1-1 0,0 1 0,0 0 0,0 0 0,0 0 0,2 8 0,-2-7 0,-1-1 0,1 0 0,-1 0 0,1 0 0,0-1 0,1 1 0,-1 0 0,1-1 0,-1 1 0,1-1 0,0 0 0,7 5 0,-10-7 0,1-1 0,-1 1 0,1-1 0,-1 0 0,1 1 0,-1-1 0,1 0 0,0 0 0,-1 1 0,1-1 0,-1 0 0,1 0 0,0 0 0,-1 0 0,1 0 0,0 0 0,-1 0 0,1 0 0,0 0 0,-1 0 0,1 0 0,0 0 0,-1 0 0,1-1 0,0 1 0,-1 0 0,1 0 0,-1-1 0,1 1 0,-1 0 0,1-1 0,0 1 0,-1-1 0,1 1 0,-1-1 0,0 1 0,1-1 0,-1 1 0,1-1 0,-1 1 0,0-1 0,1 1 0,-1-1 0,0 0 0,0 1 0,0-1 0,1 1 0,-1-1 0,0 0 0,0 1 0,0-1 0,0 0 0,0 1 0,0-1 0,0 0 0,0-47 0,-1 38 0,2-35 0,0 29 0,0-1 0,-1 1 0,-1 0 0,-6-29 0,7 45 0,0 0 0,0 0 0,0 0 0,0 0 0,0 0 0,0-1 0,0 1 0,0 0 0,0 0 0,0 0 0,0 0 0,0 0 0,0 0 0,0 0 0,0 0 0,0-1 0,0 1 0,0 0 0,0 0 0,0 0 0,0 0 0,-1 0 0,1 0 0,0 0 0,0 0 0,0 0 0,0 0 0,0 0 0,0 0 0,0-1 0,0 1 0,0 0 0,-1 0 0,1 0 0,0 0 0,0 0 0,0 0 0,0 0 0,0 0 0,0 0 0,0 0 0,-1 0 0,1 0 0,0 0 0,0 0 0,0 0 0,0 0 0,0 0 0,0 0 0,0 0 0,0 1 0,-1-1 0,1 0 0,0 0 0,0 0 0,0 0 0,-6 8 0,-3 13 0,9-21 0,-6 15 0,0-1 0,2 1 0,-1 0 0,2 1 0,0-1 0,1 0 0,0 1 0,2 0 0,0-1 0,2 25 0,-1-39 0,-1 0 0,1 0 0,-1 0 0,1-1 0,0 1 0,-1 0 0,1 0 0,0-1 0,-1 1 0,1 0 0,0-1 0,0 1 0,0-1 0,-1 1 0,1-1 0,0 1 0,0-1 0,0 0 0,0 1 0,0-1 0,0 0 0,0 0 0,0 0 0,0 1 0,0-1 0,0 0 0,0-1 0,0 1 0,0 0 0,0 0 0,0 0 0,0 0 0,0-1 0,0 1 0,1-1 0,1 0 0,1 0 0,-1 0 0,1 0 0,-1 0 0,0 0 0,0-1 0,1 0 0,4-3 0,-4 1 0,17-22 0,-21 25 0,0 1 0,0 0 0,0-1 0,0 1 0,0 0 0,0-1 0,0 1 0,0 0 0,0-1 0,0 1 0,0-1 0,0 1 0,0 0 0,0-1 0,0 1 0,0 0 0,0-1 0,0 1 0,0 0 0,0-1 0,-1 1 0,1 0 0,0-1 0,0 1 0,0 0 0,-1-1 0,1 1 0,-1 0 0,-18-5 0,0 4 0,-1 1 0,1 0 0,-1 2 0,1 0 0,0 1 0,0 1 0,-23 8 0,42-12 0,-1 0 0,1 0 0,-1 0 0,1 1 0,-1-1 0,1 0 0,-1 0 0,1 1 0,0-1 0,-1 0 0,1 0 0,-1 1 0,1-1 0,0 1 0,-1-1 0,1 0 0,0 1 0,-1-1 0,1 1 0,0-1 0,0 1 0,-1-1 0,1 1 0,0-1 0,0 1 0,0-1 0,0 1 0,0-1 0,0 1 0,-1-1 0,1 1 0,0-1 0,1 1 0,-1-1 0,0 2 0,1 0 0,0-1 0,0 1 0,0 0 0,0-1 0,0 1 0,0-1 0,0 1 0,1-1 0,-1 0 0,3 2 0,0 1 0,1-1 0,0 1 0,0-2 0,0 1 0,0 0 0,10 3 0,-8-6 0,0 1 0,0-1 0,0 0 0,0-1 0,0 1 0,0-1 0,0-1 0,0 0 0,0 0 0,-1 0 0,1 0 0,-1-1 0,1 0 0,-1-1 0,0 1 0,0-1 0,-1-1 0,1 1 0,-1-1 0,5-5 0,-8 8 0,0 0 0,0-1 0,-1 1 0,1-1 0,-1 1 0,1-1 0,-1 0 0,0 0 0,0 1 0,0-1 0,-1 0 0,1 0 0,-1 0 0,1 0 0,-1 0 0,0 0 0,0 0 0,0 0 0,-1 0 0,1 0 0,-1 0 0,1 0 0,-3-5 0,2 6 0,0 0 0,0 0 0,0 0 0,0 0 0,0 1 0,-1-1 0,1 0 0,-1 1 0,1-1 0,-1 1 0,0-1 0,1 1 0,-1 0 0,0-1 0,0 1 0,0 0 0,0 0 0,0 0 0,0 1 0,0-1 0,0 0 0,0 1 0,0 0 0,0-1 0,-1 1 0,1 0 0,0 0 0,0 0 0,0 0 0,-1 1 0,1-1 0,0 0 0,-3 2 0,4-2 0,0 1 0,1-1 0,-1 1 0,0-1 0,0 1 0,0-1 0,0 1 0,1-1 0,-1 1 0,0 0 0,0 0 0,1-1 0,-1 1 0,1 0 0,-1 0 0,1 0 0,-1 0 0,1-1 0,-1 1 0,1 0 0,0 0 0,-1 0 0,1 0 0,0 0 0,0 0 0,0 0 0,0 0 0,0 0 0,0 0 0,0 0 0,0 0 0,0 0 0,0 0 0,1 0 0,-1 0 0,0 0 0,1 0 0,-1 0 0,1 0 0,-1 0 0,2 1 0,0 4 0,1-1 0,0 1 0,0-1 0,1 0 0,4 6 0,-5-9 0,-1 0 0,1 0 0,0 0 0,0 0 0,-1-1 0,1 1 0,0-1 0,0 0 0,0 0 0,1 0 0,-1 0 0,0-1 0,5 1 0,-4 0 0,1-1 0,-1 1 0,0 0 0,0 1 0,0-1 0,0 1 0,8 3 0,-12-4 0,1 0 0,1 0 0,-1 0 0,0-1 0,0 1 0,0-1 0,0 1 0,0-1 0,1 1 0,-1-1 0,0 1 0,0-1 0,1 0 0,-1 0 0,0 0 0,1 0 0,-1 0 0,0 0 0,1 0 0,-1 0 0,0 0 0,0-1 0,1 1 0,-1 0 0,0-1 0,0 1 0,0-1 0,1 0 0,0 0 0,-1 0 0,-1 0 0,1 0 0,-1 0 0,0 0 0,1 1 0,-1-1 0,0 0 0,0 0 0,0 0 0,0 0 0,1 0 0,-1 0 0,0 0 0,-1 0 0,1 0 0,0 0 0,0 0 0,0 0 0,-1 0 0,1 0 0,0 1 0,-1-1 0,1 0 0,0 0 0,-1 0 0,1 0 0,-1 1 0,0-1 0,1 0 0,-1 0 0,0 1 0,1-1 0,-1 1 0,0-1 0,0 0 0,0 1 0,1 0 0,-1-1 0,-1 0 0,-6-4 0,-12-13 0,25 13 0,15 4 0,-9 2 0,-1 1 0,0 0 0,0 1 0,0 0 0,0 1 0,0 0 0,12 7 0,-6-4 0,-11-5 0,0 0 0,0 1 0,0 0 0,-1-1 0,1 1 0,-1 1 0,1-1 0,-1 1 0,0 0 0,0 0 0,-1 0 0,1 0 0,-1 0 0,0 1 0,0 0 0,4 9 0,-7-13 0,0-1 0,0 1 0,0-1 0,0 0 0,0 1 0,0-1 0,1 0 0,-1 1 0,0-1 0,0 0 0,0 1 0,0-1 0,0 0 0,1 1 0,-1-1 0,0 0 0,0 1 0,0-1 0,1 0 0,-1 0 0,0 1 0,1-1 0,-1 0 0,0 0 0,1 0 0,-1 0 0,0 1 0,1-1 0,-1 0 0,0 0 0,1 0 0,-1 0 0,1 0 0,2-12 0,-2-27 0,-1 37 0,2-27 0,-1 22 0,-1 0 0,1 0 0,-1 0 0,0 0 0,-1 0 0,1 0 0,-2 0 0,1 0 0,-4-10 0,-7 7 0,11 12 0,10 5 0,0-2 0,0 1 0,-1 0 0,0 0 0,0 1 0,0 0 0,-1 1 0,11 13 0,-23-60 0,-5 9 0,6 19 0,0 0 0,1-1 0,0 0 0,1 1 0,-1-23 0,39 91 0,-24-36 0,-5-14 0,-4-16 0,-3 8 0,0 1 0,1 0 0,-1 0 0,0-1 0,0 1 0,0 0 0,0-1 0,0 1 0,0 0 0,0-1 0,0 1 0,0 0 0,0 0 0,0-1 0,0 1 0,0 0 0,0-1 0,0 1 0,0 0 0,0 0 0,-1-1 0,1 1 0,0 0 0,0-1 0,0 1 0,0 0 0,-1 0 0,1 0 0,0-1 0,0 1 0,0 0 0,-1 0 0,1 0 0,0-1 0,-1 1 0,-6 8 0,-7 17 0,-52 197 0,52-166 0,13-48 0,0-1 0,0 1 0,1 0 0,0 0 0,1-1 0,1 12 0,2 19 0,-13 24 0,7-52 0,0 1 0,0 0 0,1 0 0,1 20 0,0-31 0,0 0 0,0 0 0,-1 0 0,1 1 0,0-1 0,0 0 0,0 0 0,0 0 0,0 1 0,0-1 0,0 0 0,0 0 0,0 0 0,0 1 0,0-1 0,0 0 0,1 0 0,-1 0 0,0 1 0,0-1 0,0 0 0,0 0 0,0 0 0,0 1 0,0-1 0,0 0 0,1 0 0,-1 0 0,0 0 0,0 0 0,0 1 0,0-1 0,1 0 0,-1 0 0,0 0 0,0 0 0,0 0 0,0 0 0,1 0 0,-1 0 0,0 0 0,0 0 0,1 0 0,-1 0 0,0 0 0,0 0 0,0 0 0,1 0 0,-1 0 0,10-10 0,5-17 0,-8-2 0,-6 24 0,0 1 0,0 0 0,0 0 0,0 0 0,1 0 0,2-6 0,-4 10 0,0 0 0,0 0 0,0 0 0,0-1 0,0 1 0,0 0 0,0 0 0,1 0 0,-1 0 0,0 0 0,0 0 0,0-1 0,0 1 0,0 0 0,0 0 0,0 0 0,0 0 0,1 0 0,-1 0 0,0 0 0,0 0 0,0 0 0,0 0 0,0 0 0,1-1 0,-1 1 0,0 0 0,0 0 0,0 0 0,0 0 0,0 0 0,1 0 0,-1 0 0,0 0 0,0 0 0,0 0 0,0 0 0,0 1 0,1-1 0,-1 0 0,0 0 0,0 0 0,0 0 0,0 0 0,0 0 0,1 0 0,-1 0 0,0 0 0,0 0 0,0 1 0,0-1 0,0 0 0,0 0 0,5 12 0,0 14 0,-5-16 0,-2 29 0,2-37 0,0 0 0,-1 0 0,0-1 0,1 1 0,-1-1 0,0 1 0,0-1 0,0 1 0,0-1 0,0 1 0,0-1 0,0 0 0,-1 1 0,1-1 0,0 0 0,-1 0 0,1 0 0,-1 0 0,-2 1 0,-12 5 0,10-4 0,0-1 0,1 1 0,-1 0 0,1 0 0,0 1 0,-6 4 0,9-6 0,0 0 0,1 0 0,-1 1 0,1-1 0,-1 0 0,1 1 0,0-1 0,0 1 0,0 0 0,0-1 0,1 1 0,-1 0 0,1-1 0,-1 1 0,1 0 0,0 0 0,0 3 0,0 5 0,-1-8 0,1 0 0,0 0 0,0 0 0,0 0 0,0-1 0,0 1 0,1 0 0,-1 0 0,1 0 0,0-1 0,1 4 0,-2-6 0,1 0 0,-1 0 0,0 0 0,1 0 0,-1 0 0,0 0 0,1 0 0,-1 0 0,0 0 0,1 0 0,-1 0 0,0 0 0,1-1 0,-1 1 0,0 0 0,0 0 0,1 0 0,-1-1 0,0 1 0,0 0 0,1 0 0,-1-1 0,0 1 0,0 0 0,0 0 0,1-1 0,-1 1 0,0 0 0,0-1 0,0 1 0,0 0 0,0-1 0,0 1 0,1 0 0,-1-1 0,0 1 0,0 0 0,0-1 0,0 0 0,6-19 0,-5 16 0,44-107 0,-37 93 0,-6 35 0,-8 33 0,1-33 0,-2 0 0,0-1 0,-10 19 0,4-10 0,-2 12 0,11-26 0,-1 0 0,0-1 0,0 1 0,-8 9 0,-28 36 0,38-52 0,1-1 0,-1 0 0,-1 0 0,1 0 0,0 0 0,-1 0 0,0 0 0,0-1 0,1 0 0,-1 0 0,0 0 0,-1 0 0,1-1 0,0 1 0,-1-1 0,1 0 0,0 0 0,-1-1 0,1 1 0,-1-1 0,1 0 0,-1 0 0,1-1 0,-1 1 0,1-1 0,0 0 0,-1 0 0,1-1 0,-5-1 0,76-5 0,-63 7 0,0 0 0,1 0 0,-1-1 0,-1 0 0,1 0 0,0 0 0,0 0 0,-1-1 0,1 1 0,-1-1 0,0 0 0,0 0 0,0 0 0,0 0 0,0-1 0,-1 1 0,0-1 0,1 0 0,-1 1 0,-1-1 0,1 0 0,1-4 0,2-7 0,0-1 0,-1 1 0,-1 0 0,3-29 0,-4-181 0,-4 115 0,1 102 0,0 0 0,0 0 0,-1-1 0,0 1 0,0 1 0,-5-10 0,4 9 0,0 0 0,1 0 0,-1 0 0,2 0 0,-1 0 0,0-13 0,1 4 0,1 12 0,8 18 0,47 79 0,-51-87 0,0 0 0,0 1 0,-1 0 0,0-1 0,0 1 0,-1 0 0,1 1 0,-1-1 0,-1 0 0,1 1 0,-1-1 0,0 1 0,0 12 0,-2-9 0,0 0 0,0 0 0,-1-1 0,-4 13 0,-4 17 0,-2 23 0,2-108 0,16-139 0,-7 167 0,2 3 0,9 30 0,3 10 0,-1 1 0,-2 1 0,9 34 0,-15-48 0,-1 0 0,-1 0 0,0 1 0,-1-1 0,-1 0 0,0 1 0,0-1 0,-1 0 0,-4 16 0,-28 79 0,28-88 0,4-15 0,0 0 0,0 0 0,-1 0 0,1 0 0,-1 0 0,0 0 0,-1-1 0,1 1 0,-1-1 0,0 1 0,0-1 0,-1 0 0,-6 7 0,-9 13 0,16-20 0,11-16 0,-3 2 0,-1 0 0,0 0 0,-1-1 0,0 1 0,0-1 0,1-20 0,-1 16 0,-1 0 0,9-24 0,-7 23 0,-1 1 0,0-2 0,-1 1 0,0 0 0,-2 0 0,0 0 0,-2-17 0,1 6 0,2-39 0,7-4 0,-3 0 0,-5-81 0,-1 143 0,0 1 0,0-1 0,0 0 0,-1 1 0,0 0 0,-1-1 0,0 1 0,0 0 0,-6-10 0,6 23 0,2 0 0,-1 0 0,1 0 0,-1 0 0,1 8 0,0 49 0,1-38 0,0-22 0,0-8 0,-3-29 0,-1-1 0,6 30 0,3 15 0,1 5 0,-3-6 0,0-1 0,1 1 0,0-1 0,1 0 0,7 11 0,-11-18 0,0-1 0,0 0 0,0 0 0,-1 1 0,1-1 0,0 0 0,0 0 0,0 0 0,0 0 0,0 0 0,0-1 0,-1 1 0,1 0 0,0 0 0,0 0 0,0-1 0,-1 1 0,1-1 0,0 1 0,0 0 0,-1-1 0,1 1 0,0-1 0,0 1 0,-1-1 0,1 0 0,0 0 0,20-9 0,-18 10 0,1 1 0,0 0 0,0 0 0,-1 0 0,1 1 0,0-1 0,-1 1 0,1 0 0,-1-1 0,0 2 0,0-1 0,0 0 0,0 1 0,0-1 0,0 1 0,0 0 0,3 5 0,-4-6 0,0 1 0,-1-1 0,1 1 0,-1 0 0,1-1 0,-1 1 0,0 0 0,0 0 0,0 0 0,0 0 0,0 0 0,-1 0 0,1 0 0,-1 0 0,0 0 0,0 0 0,0 0 0,0 1 0,-1-1 0,1 0 0,-1 0 0,-1 4 0,1-5 0,0-1 0,0 0 0,0 0 0,0 0 0,-1 0 0,1 0 0,0 0 0,-1 0 0,1 0 0,0 0 0,-1-1 0,1 1 0,-1 0 0,1-1 0,-1 0 0,1 1 0,-1-1 0,1 0 0,-1 1 0,1-1 0,-1 0 0,0 0 0,1-1 0,-1 1 0,1 0 0,-1 0 0,1-1 0,-1 1 0,1-1 0,-1 1 0,1-1 0,-2 0 0,-2-1 0,0 0 0,0 0 0,0-1 0,1 1 0,-1-1 0,1 0 0,-1 0 0,-5-6 0,5 2 0,0 0 0,1 0 0,0 0 0,0-1 0,1 1 0,0-1 0,1 0 0,-1 0 0,0-9 0,0 4 0,2-1 0,0 1 0,0-1 0,2-25 0,0 39 0,-1-1 0,0 1 0,0-1 0,0 0 0,0 1 0,1-1 0,-1 1 0,0-1 0,1 1 0,-1-1 0,0 1 0,1-1 0,-1 1 0,0 0 0,1-1 0,-1 1 0,1-1 0,-1 1 0,1 0 0,-1-1 0,1 1 0,-1 0 0,1 0 0,-1-1 0,1 1 0,0 0 0,-1 0 0,1 0 0,24 0 0,-20 1 0,1 0 0,-1 1 0,0-1 0,0 1 0,1 0 0,5 4 0,-9-5 0,-1 1 0,1-1 0,-1 1 0,0-1 0,0 1 0,0-1 0,0 1 0,0 0 0,0-1 0,0 1 0,0 0 0,-1 0 0,1 0 0,-1 0 0,1 0 0,-1-1 0,0 1 0,1 0 0,-1 0 0,0 0 0,-1 0 0,1 0 0,0 0 0,0 0 0,-1 0 0,1 0 0,-1 0 0,0 0 0,1-1 0,-1 1 0,-2 3 0,2-3 0,0 0 0,0-1 0,0 1 0,0 0 0,0-1 0,-1 1 0,1-1 0,0 1 0,-1-1 0,1 0 0,-1 1 0,0-1 0,1 0 0,-1 0 0,0 0 0,0 0 0,0-1 0,1 1 0,-1 0 0,0-1 0,0 1 0,0-1 0,0 0 0,0 0 0,0 0 0,0 0 0,0 0 0,0 0 0,0 0 0,-3-1 0,3 0 0,1 0 0,0 0 0,0 0 0,0 0 0,0 0 0,0 0 0,0 0 0,0 0 0,0 0 0,0-1 0,1 1 0,-1 0 0,0-1 0,1 1 0,-1 0 0,1-1 0,-1 1 0,1-1 0,0 1 0,0-1 0,0 1 0,0-1 0,0 1 0,0-1 0,0 1 0,0 0 0,0-1 0,1 1 0,-1-1 0,1 1 0,-1-1 0,1 1 0,0-2 0,1-4 0,1 0 0,0 0 0,0 0 0,0 0 0,6-7 0,-8 12 0,0 1 0,1-1 0,-1 0 0,0 1 0,1-1 0,-1 1 0,1 0 0,0 0 0,-1-1 0,1 1 0,0 0 0,0 0 0,0 1 0,-1-1 0,1 0 0,0 0 0,0 1 0,0 0 0,0-1 0,0 1 0,0 0 0,0 0 0,0 0 0,4 0 0,-5 0 0,0 1 0,-1-1 0,1 0 0,0 1 0,-1-1 0,1 0 0,0 1 0,-1-1 0,1 1 0,-1-1 0,1 1 0,0-1 0,-1 1 0,0 0 0,1-1 0,-1 1 0,1 0 0,-1-1 0,0 1 0,1 0 0,-1-1 0,0 1 0,0 0 0,1 1 0,-1 0 0,0 0 0,0 0 0,0 0 0,-1 0 0,1 0 0,0 0 0,-1 0 0,0 0 0,1 0 0,-1 0 0,0-1 0,0 1 0,-2 3 0,-1 0 0,0 1 0,-1 0 0,0-1 0,0 0 0,0 0 0,-1-1 0,1 1 0,-1-1 0,0 0 0,0-1 0,-1 0 0,-10 5 0,11-6 0,1 0 0,-1 0 0,0-1 0,1 1 0,-1-1 0,0 0 0,0-1 0,0 1 0,0-1 0,1-1 0,-1 1 0,0-1 0,0 0 0,0 0 0,-10-4 0,13 4 0,1-1 0,-1 1 0,1-1 0,0 0 0,0 0 0,-1 0 0,1 0 0,0 0 0,0-1 0,1 1 0,-1 0 0,0-1 0,1 0 0,0 1 0,0-1 0,-1 0 0,1 1 0,1-1 0,-1 0 0,0 0 0,1 0 0,-1 0 0,1 0 0,0-5 0,0 3 0,1 0 0,-1-1 0,1 1 0,0 0 0,0 0 0,1 1 0,-1-1 0,1 0 0,0 0 0,1 1 0,-1-1 0,1 1 0,4-6 0,-5 7 0,0 0 0,0 1 0,1 0 0,-1-1 0,1 1 0,-1 0 0,1 0 0,0 0 0,-1 1 0,1-1 0,0 1 0,0-1 0,0 1 0,0 0 0,1 0 0,-1 1 0,0-1 0,0 1 0,1-1 0,-1 1 0,0 0 0,1 0 0,-1 0 0,0 1 0,0-1 0,1 1 0,-1 0 0,0 0 0,0 0 0,0 0 0,0 0 0,0 1 0,0-1 0,0 1 0,-1 0 0,1 0 0,0 0 0,-1 0 0,0 1 0,4 2 0,-1 1 0,0 0 0,0 0 0,0 0 0,-1 1 0,1 0 0,-2-1 0,1 1 0,-1 1 0,0-1 0,0 0 0,-1 1 0,0-1 0,-1 1 0,1 0 0,-1 0 0,-1 11 0,-1-10-124,-1 0 0,0 0 0,0-1 0,-1 1 0,0-1 0,0 1-1,-1-1 1,-1 0 0,1-1 0,-10 14 0,7-12-6702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2T02:56:16.524"/>
    </inkml:context>
    <inkml:brush xml:id="br0">
      <inkml:brushProperty name="width" value="0.35" units="cm"/>
      <inkml:brushProperty name="height" value="0.35" units="cm"/>
      <inkml:brushProperty name="color" value="#FFFFFF"/>
    </inkml:brush>
  </inkml:definitions>
  <inkml:trace contextRef="#ctx0" brushRef="#br0">1 0 24575,'0'135'-8191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2T02:56:44.907"/>
    </inkml:context>
    <inkml:brush xml:id="br0">
      <inkml:brushProperty name="width" value="0.35" units="cm"/>
      <inkml:brushProperty name="height" value="0.35" units="cm"/>
      <inkml:brushProperty name="color" value="#FFFFFF"/>
    </inkml:brush>
  </inkml:definitions>
  <inkml:trace contextRef="#ctx0" brushRef="#br0">775 128 24575,'-180'23'0,"-1"-8"0,-207-9 0,364-8 0,24 2 0,0-1 0,-1 1 0,1 0 0,0 0 0,0 0 0,0 0 0,0 0 0,0 0 0,0 0 0,0 0 0,0-1 0,0 1 0,0 0 0,0 0 0,0 0 0,0 0 0,0 0 0,0 0 0,0-1 0,0 1 0,0 0 0,0 0 0,0 0 0,0 0 0,0 0 0,0 0 0,0-1 0,0 1 0,0 0 0,0 0 0,0 0 0,0 0 0,0 0 0,0 0 0,0 0 0,0-1 0,1 1 0,-1 0 0,0 0 0,0 0 0,0 0 0,0 0 0,0 0 0,0 0 0,0 0 0,1 0 0,-1 0 0,0 0 0,0 0 0,0 0 0,0 0 0,0-1 0,0 1 0,1 0 0,-1 0 0,0 0 0,0 0 0,0 0 0,0 1 0,0-1 0,0 0 0,1 0 0,-1 0 0,0 0 0,0 0 0,44-10 0,360-56 0,-113-16 0,-284 80 0,-1 1 0,1 0 0,-1 0 0,1 0 0,0 1 0,8 0 0,-14 4 0,-8 3 0,-10 4 0,-25 10 0,-50 16 0,27-11 0,48-19 0,1 0 0,0 1 0,-17 12 0,28-16 0,-1 1 0,1-1 0,0 1 0,0 0 0,0 0 0,1 1 0,0-1 0,0 1 0,0 0 0,-5 12 0,-12 20 0,17-32 0,0 0 0,0 0 0,1 1 0,0-1 0,0 1 0,0 0 0,1-1 0,0 1 0,1 0 0,-1 0 0,1 0 0,0 8 0,2-13 0,-1-1 0,1 0 0,-1 0 0,1 0 0,-1 1 0,1-1 0,0 0 0,0 0 0,-1 0 0,1 0 0,0 0 0,0 0 0,0 0 0,0 0 0,0-1 0,1 1 0,-1 0 0,0-1 0,0 1 0,0 0 0,1-1 0,-1 0 0,0 1 0,0-1 0,1 0 0,-1 1 0,0-1 0,1 0 0,-1 0 0,3-1 0,45-2 0,-44 3 0,14-4 0,-1 0 0,26-10 0,-30 9 0,-1 1 0,1 0 0,0 1 0,1 1 0,24-2 0,47 6 0,111-4 0,-176-1 0,0-2 0,1-1 0,-1 0 0,29-14 0,-31 12 0,63-30 0,-70 32 0,0 2 0,0 0 0,1 0 0,-1 1 0,1 0 0,0 1 0,0 1 0,0 0 0,0 1 0,19 2 0,-21-3 0,1 1 0,-1 0 0,0 1 0,-1 0 0,1 1 0,0 1 0,0-1 0,-1 1 0,1 1 0,18 9 0,-28-12 0,0-1 0,-1 1 0,1-1 0,0 1 0,-1 0 0,1-1 0,0 1 0,-1 0 0,1-1 0,-1 1 0,1 0 0,-1 0 0,1-1 0,-1 1 0,0 0 0,1 0 0,-1 0 0,0 0 0,0 0 0,0-1 0,1 1 0,-1 0 0,0 0 0,0 0 0,0 0 0,-1 0 0,1 0 0,0 1 0,-1 1 0,0-1 0,0 1 0,-1 0 0,1-1 0,0 1 0,-1-1 0,0 0 0,0 1 0,-2 1 0,-4 4 0,0 0 0,-1-1 0,-17 11 0,14-10 0,1-1 0,-1-1 0,0 0 0,0-1 0,0 0 0,-1-1 0,0 0 0,-16 2 0,-122 7 0,69-7 0,-94 2 0,122-10 0,-73 4 0,117 0 0,0 1 0,0 1 0,1 0 0,0 0 0,0 1 0,0 0 0,0 0 0,1 1 0,0 0 0,-11 11 0,-27 17 0,6-3 0,-8 4 0,47-35 0,1 0 0,-1 1 0,0-1 0,0 1 0,0-1 0,0 0 0,0 1 0,1-1 0,-1 1 0,0 0 0,0-1 0,1 1 0,-1-1 0,1 1 0,-1 0 0,0 0 0,1-1 0,-1 1 0,1 0 0,-1 0 0,1 0 0,0 0 0,-1 0 0,1 0 0,0-1 0,0 1 0,0 0 0,0 0 0,-1 0 0,1 0 0,0 0 0,1 0 0,-1 0 0,0 0 0,0 0 0,0 0 0,0 0 0,1 0 0,-1-1 0,0 1 0,1 0 0,-1 0 0,1 0 0,-1 0 0,1-1 0,-1 1 0,1 0 0,0-1 0,-1 1 0,1 0 0,0-1 0,0 1 0,-1-1 0,3 2 0,2 1 0,0 1 0,0-1 0,0 0 0,0-1 0,1 1 0,0-1 0,7 2 0,31 8 0,-33-8 0,0-1 0,1 0 0,-1-1 0,1 0 0,15 0 0,8-4 0,-25 1 0,-1 0 0,1 1 0,0 0 0,-1 0 0,1 1 0,-1 0 0,14 3 0,-23-3 0,1-1 0,0 0 0,-1 0 0,1 0 0,-1 1 0,1-1 0,0 0 0,-1 1 0,1-1 0,-1 0 0,1 1 0,-1-1 0,1 1 0,-1-1 0,1 1 0,-1-1 0,0 1 0,1-1 0,-1 1 0,0-1 0,1 1 0,-1 0 0,0-1 0,0 1 0,1 0 0,-1-1 0,0 1 0,0-1 0,0 1 0,0 0 0,0 0 0,0 1 0,-1 0 0,0-1 0,1 1 0,-1-1 0,0 1 0,0-1 0,0 1 0,0-1 0,0 0 0,0 0 0,0 1 0,-2 0 0,-3 3 0,0 0 0,0-1 0,-1 1 0,-10 4 0,8-5 0,-10 3 0,1 0 0,0 1 0,1 1 0,0 1 0,0 1 0,1 0 0,-23 21 0,22-16 0,6-6 0,1 1 0,-15 18 0,5-10 0,-3 3 0,1 1 0,20-21 0,-1-1 0,1 1 0,0 0 0,-1 0 0,1 1 0,0-1 0,0 0 0,1 1 0,-1-1 0,0 1 0,1 0 0,0-1 0,-1 1 0,1 0 0,-1 3 0,2-5 0,0 0 0,0-1 0,0 1 0,1-1 0,-1 1 0,0 0 0,0-1 0,0 1 0,0-1 0,1 1 0,-1-1 0,0 1 0,0 0 0,1-1 0,-1 1 0,0-1 0,1 0 0,-1 1 0,1-1 0,-1 1 0,0-1 0,1 0 0,-1 1 0,1-1 0,-1 0 0,1 1 0,0-1 0,-1 0 0,1 0 0,-1 1 0,1-1 0,-1 0 0,1 0 0,0 0 0,-1 0 0,1 0 0,-1 0 0,1 0 0,0 0 0,-1 0 0,1 0 0,-1 0 0,1 0 0,-1 0 0,1-1 0,0 1 0,-1 0 0,1-1 0,36-13 0,-28 10 0,8-2 0,13-6 0,0 2 0,0 1 0,1 1 0,0 1 0,0 2 0,47-1 0,86 6 0,-222-1 0,-92 3 0,129 0 0,0 1 0,0 2 0,0 0 0,-20 9 0,31-11 0,0 1 0,1 0 0,-1 1 0,1 0 0,0 0 0,1 1 0,-16 13 0,22-16 0,0 0 0,0 0 0,0 0 0,0 0 0,1 1 0,-1-1 0,1 0 0,0 1 0,0-1 0,0 1 0,1-1 0,-1 1 0,1-1 0,0 1 0,0-1 0,0 1 0,0-1 0,1 1 0,0 4 0,0-6 0,0 0 0,0 0 0,0 0 0,0-1 0,0 1 0,0 0 0,0-1 0,1 1 0,-1 0 0,1-1 0,-1 0 0,1 1 0,-1-1 0,1 0 0,0 0 0,0 0 0,0 0 0,0 0 0,-1 0 0,1 0 0,0-1 0,0 1 0,0-1 0,1 1 0,-1-1 0,0 0 0,0 0 0,0 0 0,0 0 0,0 0 0,0 0 0,0-1 0,3 0 0,44-9 0,51-17 0,-88 24 0,-1 1 0,23-2 0,-24 4 0,-1-1 0,0 0 0,0-1 0,0 0 0,0 0 0,10-5 0,-6 2 0,0 1 0,0 0 0,1 1 0,0 0 0,0 1 0,24-1 0,-25 2 0,85-12 0,-41-1 0,-47 10 0,1 1 0,-1 1 0,0 0 0,19-2 0,416 4 0,-206 1 0,-218 1 0,0 0 0,1 1 0,31 10 0,13 2 0,7-2 0,-37-5 0,0-2 0,64 3 0,-86-7 0,0-1 0,0 2 0,0 0 0,0 0 0,-1 2 0,21 8 0,-15-5 0,0-2 0,26 6 0,54 17 0,-10-10 0,-65-12 0,0-2 0,1 0 0,0-2 0,29 1 0,90-3 0,94-3 0,-141-12 0,-61 8 0,-1 1 0,38 1 0,-22 3 0,62-8 0,-75 3 0,0 0 0,48-16 0,-69 18 0,0 0 0,0 1 0,0 1 0,27 1 0,-21 0 0,36-5 0,-37 4 0,0 0 0,23 1 0,-26 1 0,0-1 0,0 0 0,24-6 0,-15 3 0,1 1 0,-1 1 0,1 1 0,35 4 0,7-1 0,-27-2 0,3-1 0,91 10 0,-81-3 0,0-2 0,77-6 0,-35 0 0,157 2 0,-252 0 0,1 1 0,0 0 0,0 0 0,-1 1 0,1-1 0,-1 1 0,0 0 0,1 0 0,6 5 0,-8-5 0,1 1 0,-1-1 0,1 0 0,0-1 0,-1 1 0,1-1 0,0 0 0,0 0 0,0 0 0,0 0 0,7 0 0,-10-1 0,0 0 0,0 0 0,0 0 0,-1-1 0,1 1 0,0 0 0,0-1 0,0 1 0,-1 0 0,1-1 0,0 1 0,-1-1 0,1 1 0,0-1 0,-1 1 0,1-1 0,0 0 0,-1 1 0,1-1 0,-1 0 0,1 1 0,-1-1 0,0 0 0,1 0 0,-1 1 0,0-1 0,1 0 0,-1 0 0,0 0 0,0 0 0,0 1 0,0-1 0,0 0 0,0 0 0,0 0 0,0 0 0,0 0 0,0 1 0,0-1 0,-1-1 0,-12-42 0,7 30 0,-4-27 0,2 0 0,1-1 0,3 0 0,1-77 0,1 102 0,0 0 0,0 1 0,-2-1 0,0 0 0,-10-24 0,7 22 0,1-1 0,1 0 0,-4-29 0,8 34 0,-3-39 0,-3 1 0,-14-55 0,20 103 0,-1 1 0,0 0 0,0 0 0,0 0 0,0 0 0,0 0 0,-1 1 0,0-1 0,0 1 0,0 0 0,0-1 0,-1 1 0,-6-4 0,2 1 0,0 2 0,-1-1 0,1 1 0,-1 1 0,-15-5 0,23 7 0,0 1 0,0 0 0,0 0 0,0 0 0,0 0 0,0 0 0,0 0 0,0 0 0,0 0 0,-1 0 0,1 0 0,0 0 0,0 1 0,0-1 0,0 0 0,0 1 0,0-1 0,0 1 0,0-1 0,1 1 0,-1 0 0,0-1 0,0 1 0,0 0 0,0 0 0,1-1 0,-1 1 0,0 0 0,1 0 0,-1 0 0,1 0 0,-1 0 0,1 0 0,-1 0 0,1 0 0,0 0 0,-1 0 0,1 0 0,0 0 0,0 0 0,0 2 0,-2 7 0,2 1 0,-1-1 0,2 18 0,0-11 0,-13 200 0,13-208 0,-2 5 0,0 1 0,2 0 0,0 0 0,0-1 0,2 1 0,0-1 0,0 0 0,1 1 0,12 25 0,-14-38 0,-1 0 0,0 1 0,0-1 0,0 1 0,0-1 0,0 0 0,0 1 0,-1-1 0,1 1 0,-1 0 0,0-1 0,0 1 0,0-1 0,0 1 0,0-1 0,0 1 0,-1-1 0,1 1 0,-1-1 0,0 1 0,0-1 0,0 1 0,0-1 0,0 0 0,0 1 0,-1-1 0,1 0 0,-1 0 0,-2 3 0,-5 3 0,0-1 0,0 0 0,-1-1 0,1 0 0,-17 7 0,9-4 0,12-6 0,-1-1 0,1 0 0,0 0 0,-1 0 0,0-1 0,1 1 0,-1-2 0,0 1 0,0 0 0,-10-2 0,14 1 0,0 0 0,0 0 0,0 0 0,0-1 0,0 1 0,0-1 0,0 1 0,0-1 0,0 0 0,0 0 0,1 0 0,-1 0 0,0 0 0,0 0 0,1-1 0,-1 1 0,1 0 0,-1-1 0,1 1 0,0-1 0,-1 0 0,1 1 0,0-1 0,0 0 0,0 0 0,0 0 0,1 0 0,-1 0 0,0 0 0,1 0 0,-1 0 0,1-3 0,-3-48 0,5-60 0,0 23 0,-1 49 0,0 21 0,-1 1 0,0-1 0,-1 0 0,-2 0 0,0 0 0,-1 1 0,-7-22 0,-2-1 0,12 36 0,0-1 0,-1 1 0,0-1 0,0 1 0,-1 0 0,1 0 0,-2 0 0,1 0 0,0 0 0,-1 0 0,0 1 0,-1 0 0,1 0 0,-1 0 0,-6-5 0,-127-67 0,135 75 0,-16-8 0,11 5 0,0 1 0,0-1 0,-1 2 0,1-1 0,-13-2 0,19 5 0,0 1 0,0 0 0,1 0 0,-1 0 0,0 0 0,0 0 0,0 0 0,0 0 0,0 0 0,1 1 0,-1-1 0,0 1 0,0 0 0,0-1 0,1 1 0,-1 0 0,0 0 0,1 0 0,-1 0 0,1 0 0,-1 0 0,1 1 0,0-1 0,-1 0 0,1 1 0,0-1 0,0 1 0,0-1 0,0 1 0,0 0 0,-1 2 0,-7 21 0,1 0 0,1 1 0,1 0 0,1 0 0,-1 27 0,-4 17 0,-1 10 0,3 0 0,2 88 0,7-144 0,-2 27 0,1-51 0,0 0 0,-1 0 0,1 1 0,0-1 0,0 0 0,-1 0 0,1 0 0,0 0 0,0 0 0,-1 0 0,1 1 0,0-1 0,-1 0 0,1 0 0,0 0 0,0 0 0,-1 0 0,1 0 0,0 0 0,0 0 0,-1 0 0,1-1 0,0 1 0,-1 0 0,1 0 0,0 0 0,0 0 0,-1 0 0,1 0 0,0 0 0,0-1 0,0 1 0,-1 0 0,1 0 0,0 0 0,0-1 0,0 1 0,-1 0 0,1 0 0,0 0 0,0-1 0,0 1 0,0 0 0,-12-11 0,-21-31 0,-55-90 0,60 81 0,2-1 0,-20-60 0,25 48 0,13 37 0,-20-45 0,24 64 0,0 1 0,0-1 0,-1 1 0,0 0 0,0 1 0,0-1 0,-1 1 0,0 0 0,-1 1 0,-7-7 0,6 8 0,1 1 0,-1-1 0,0 1 0,0 0 0,-1 1 0,1 0 0,0 0 0,-1 1 0,0 0 0,1 0 0,-1 1 0,1 0 0,-17 3 0,15-2 0,0 1 0,1 0 0,-1 0 0,1 1 0,0 1 0,0-1 0,0 2 0,0-1 0,0 1 0,1 0 0,0 1 0,-8 7 0,12-7 0,0 0 0,1 1 0,-1 0 0,2 0 0,-1 0 0,1 0 0,0 0 0,0 0 0,0 10 0,-1-2 0,-8 47 0,4 0 0,2 1 0,4 74 0,1-101 0,0-27 0,1-1 0,0 1 0,1-1 0,-1 1 0,2-1 0,-1 0 0,1 0 0,0 0 0,1 0 0,0 0 0,0-1 0,1 0 0,8 10 0,-6-8 0,1 0 0,0-1 0,0 0 0,1-1 0,0 0 0,1-1 0,-1 1 0,1-2 0,17 8 0,-3-3 0,0-2 0,0 0 0,41 7 0,-39-11 0,0-2 0,0 0 0,35-2 0,-47-1 0,-1-1 0,0 0 0,-1-1 0,1-1 0,0 0 0,-1-1 0,0 0 0,18-10 0,-26 13 0,0 0 0,-1-1 0,1 1 0,-1-1 0,1 0 0,-1 0 0,0 0 0,0-1 0,0 1 0,0-1 0,-1 1 0,1-1 0,2-7 0,-4 9 0,-1-1 0,1 0 0,-1 0 0,1 0 0,-1 0 0,0 0 0,0 0 0,0 1 0,-1-1 0,1 0 0,-1 0 0,0 0 0,1 0 0,-1 1 0,0-1 0,-1 0 0,1 1 0,0-1 0,-1 1 0,0-1 0,1 1 0,-4-3 0,-13-16 0,-2 1 0,-1 1 0,0 0 0,-1 2 0,-1 1 0,0 0 0,-1 2 0,-1 1 0,0 1 0,-1 1 0,0 1 0,-1 1 0,-55-10 0,55 15 0,-1 2 0,0 1 0,0 1 0,-45 5 0,-109 30 0,180-34 0,0-1 0,0 1 0,-1 0 0,1 0 0,0 0 0,0 0 0,0 0 0,0 0 0,0 0 0,0 1 0,0-1 0,1 1 0,-1-1 0,1 1 0,-1 0 0,1 0 0,-1 0 0,1 0 0,0 0 0,0 0 0,0 0 0,0 0 0,0 0 0,0 0 0,1 1 0,-1-1 0,0 2 0,0 8 0,1-1 0,-1 1 0,2-1 0,2 18 0,0 9 0,-3-26 0,0 1 0,1-1 0,0 1 0,5 16 0,-4-24 0,0 1 0,0-1 0,0 0 0,1 0 0,0 0 0,0 0 0,1 0 0,-1-1 0,1 0 0,0 1 0,9 6 0,-2-1 0,1-1 0,0 0 0,26 13 0,-31-18 0,1-1 0,-1-1 0,1 0 0,0 0 0,0 0 0,0-1 0,0 0 0,16 0 0,111-3 0,-144 1 0,1-1 0,0 0 0,-1 0 0,1-1 0,-12-6 0,-8-2 0,-138-53 0,117 55 0,42 8 0,0 1 0,0-1 0,0-1 0,0 0 0,0 0 0,1 0 0,-1 0 0,1-1 0,-1 0 0,-7-6 0,-9-12 0,1 0 0,0-2 0,2 0 0,-33-51 0,50 69 0,-3-3 0,0-1 0,1 0 0,0-1 0,1 0 0,0 1 0,1-1 0,0-1 0,0 1 0,1 0 0,0-1 0,0-16 0,1 14 0,0 1 0,-1 0 0,-1 0 0,0 0 0,0 0 0,-1 1 0,-6-12 0,9 19 0,-1 1 0,0-1 0,-1 1 0,1-1 0,-1 1 0,1 0 0,-1 0 0,0 0 0,0 0 0,-1 0 0,1 1 0,0-1 0,-1 1 0,0 0 0,1 0 0,-1 1 0,0-1 0,0 1 0,0-1 0,0 1 0,0 1 0,0-1 0,-7 0 0,-6 0 0,-5 0 0,1 1 0,0 0 0,-38 6 0,57-5 0,-1 0 0,1 0 0,-1 0 0,1 0 0,-1 1 0,1-1 0,0 1 0,-1-1 0,1 1 0,0 0 0,0 0 0,0 0 0,1 0 0,-1 0 0,0 0 0,1 1 0,-1-1 0,1 0 0,0 1 0,0-1 0,-1 4 0,-2 6 0,1 1 0,0-1 0,-2 18 0,1-1 0,-2 14 0,1 0 0,2 0 0,3 0 0,5 54 0,-5-92 0,1 0 0,0 0 0,0 0 0,0 0 0,1 0 0,-1 0 0,1 0 0,0-1 0,1 1 0,-1-1 0,1 1 0,0-1 0,0 0 0,0 0 0,1 0 0,5 4 0,-3-3 0,1 0 0,0-1 0,0 0 0,0 0 0,0-1 0,1 1 0,0-2 0,-1 1 0,14 1 0,1-1 0,1 0 0,-1-2 0,1-1 0,-1-1 0,1-1 0,36-7 0,159-50 0,-184 49 0,-19 6 0,-1 0 0,1-1 0,-1-1 0,-1 0 0,1 0 0,15-12 0,-28 18 0,0 0 0,-1-1 0,1 1 0,0-1 0,-1 1 0,1-1 0,-1 0 0,1 1 0,-1-1 0,1 0 0,-1 1 0,1-1 0,-1 0 0,0 1 0,1-1 0,-1 0 0,0 0 0,0 0 0,1 0 0,-1 0 0,0 1 0,-1-1 0,1 1 0,0-1 0,0 1 0,-1-1 0,1 1 0,0-1 0,0 1 0,-1 0 0,1-1 0,0 1 0,-1-1 0,1 1 0,-1 0 0,1-1 0,-1 1 0,1 0 0,0 0 0,-1-1 0,1 1 0,-2 0 0,-36-9 0,27 7 0,-101-18 0,-1 5 0,-122-1 0,81 18 0,-94-3 0,242 0 0,0 0 0,0-1 0,0 1 0,1-1 0,-1 0 0,1-1 0,-1 0 0,1 0 0,0 0 0,0 0 0,-6-5 0,-1-2 0,1-1 0,0 0 0,-11-15 0,3-1 0,-18-32 0,9 12 0,25 42 0,0 0 0,1 0 0,0 0 0,0 0 0,0 0 0,0 0 0,1 0 0,0-1 0,0 1 0,1 0 0,-1-8 0,1 11 0,0 0 0,0 0 0,0 0 0,1 0 0,-1 0 0,1 1 0,-1-1 0,1 0 0,-1 0 0,1 0 0,0 0 0,0 1 0,0-1 0,0 0 0,0 1 0,0-1 0,1 1 0,-1-1 0,1 1 0,-1-1 0,1 1 0,-1 0 0,1 0 0,-1 0 0,1 0 0,0 0 0,0 0 0,-1 1 0,1-1 0,0 0 0,0 1 0,3-1 0,4 0 0,1 1 0,-1 0 0,1 0 0,-1 1 0,0 0 0,0 1 0,0-1 0,12 6 0,-3-1 0,-1 1 0,-1 0 0,21 13 0,-35-19 0,-1 0 0,0 0 0,0 0 0,1-1 0,-1 1 0,0 1 0,0-1 0,0 0 0,0 0 0,0 0 0,0 0 0,0 1 0,-1-1 0,1 0 0,0 1 0,-1-1 0,1 1 0,-1-1 0,0 1 0,1-1 0,-1 1 0,0 1 0,0 1 0,0-1 0,-1 0 0,1 0 0,-1 0 0,0 0 0,0 0 0,0 0 0,0 0 0,-1 0 0,-2 3 0,-5 7 0,0 0 0,-2-1 0,-16 16 0,21-23 0,-111 101 0,112-101 0,0 1 0,1 0 0,0 0 0,0 0 0,1 0 0,0 1 0,0-1 0,0 1 0,1 0 0,0 0 0,-1 10 0,1-9 0,0 1 0,-1-1 0,1 0 0,-2 0 0,1 0 0,-1 0 0,-7 10 0,10-16 0,-1 1 0,0 0 0,0 0 0,0-1 0,0 1 0,0-1 0,-1 1 0,1-1 0,-1 0 0,0 0 0,1 0 0,-1 0 0,0-1 0,0 1 0,0-1 0,0 0 0,-1 0 0,1 0 0,0 0 0,0 0 0,-1-1 0,1 0 0,0 1 0,-6-1 0,-23-3 0,1 0 0,-1-3 0,1 0 0,0-2 0,-50-20 0,57 20 0,-122-34 0,141 39 0,0 1 0,1-1 0,0 1 0,0-1 0,0-1 0,0 1 0,0 0 0,0-1 0,-4-5 0,-29-41 0,35 46 0,-10-15 0,2-1 0,1 1 0,1-2 0,-9-29 0,3 9 0,0 5 0,7 18 0,0 1 0,-5-24 0,12 40 0,0 1 0,-1 0 0,1 0 0,0-1 0,0 1 0,0 0 0,0-1 0,0 1 0,0 0 0,0-1 0,0 1 0,0 0 0,0-1 0,0 1 0,0 0 0,0 0 0,0-1 0,0 1 0,1 0 0,-1-1 0,0 1 0,0 0 0,0 0 0,0-1 0,1 1 0,-1 0 0,0 0 0,0-1 0,0 1 0,1 0 0,-1 0 0,0 0 0,0-1 0,1 1 0,12 2 0,19 16 0,-25-14 0,14 7 0,14 7 0,-2 1 0,0 2 0,56 46 0,-87-65 0,0-1 0,-1 0 0,1 1 0,-1-1 0,1 1 0,-1-1 0,1 1 0,-1 0 0,0-1 0,0 1 0,0 0 0,0 0 0,0 0 0,-1 0 0,1 0 0,0 0 0,-1 0 0,0 0 0,1 0 0,-1 0 0,0 0 0,0 1 0,0-1 0,0 0 0,0 0 0,-1 0 0,1 0 0,-1 0 0,1 0 0,-1 0 0,0 0 0,0 0 0,0 0 0,0 0 0,0-1 0,0 1 0,0 0 0,-1-1 0,1 1 0,-1 0 0,1-1 0,-3 2 0,-8 6 0,0 0 0,-1-1 0,0 0 0,-27 10 0,25-11 0,-13 6 0,-1-1 0,0-2 0,0-1 0,-1-1 0,0-1 0,-1-2 0,1-1 0,-44 0 0,-457-5 0,400-13 0,110 11 0,21 3 0,0-1 0,0 1 0,0 0 0,0-1 0,0 1 0,0 0 0,0 0 0,0-1 0,1 1 0,-1 0 0,0 0 0,0-1 0,0 1 0,0 0 0,0 0 0,0-1 0,0 1 0,1 0 0,-1 0 0,0-1 0,0 1 0,0 0 0,1 0 0,-1 0 0,0 0 0,0-1 0,0 1 0,1 0 0,-1 0 0,0 0 0,0 0 0,1 0 0,-1 0 0,0 0 0,1-1 0,38-15 0,69-8-1365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4/20/2024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7.png"/><Relationship Id="rId3" Type="http://schemas.openxmlformats.org/officeDocument/2006/relationships/customXml" Target="../ink/ink1.xml"/><Relationship Id="rId7" Type="http://schemas.openxmlformats.org/officeDocument/2006/relationships/image" Target="../media/image5.png"/><Relationship Id="rId12" Type="http://schemas.openxmlformats.org/officeDocument/2006/relationships/customXml" Target="../ink/ink6.xml"/><Relationship Id="rId17" Type="http://schemas.openxmlformats.org/officeDocument/2006/relationships/image" Target="../media/image3.png"/><Relationship Id="rId2" Type="http://schemas.openxmlformats.org/officeDocument/2006/relationships/image" Target="../media/image2.jpeg"/><Relationship Id="rId16"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customXml" Target="../ink/ink5.xml"/><Relationship Id="rId5" Type="http://schemas.openxmlformats.org/officeDocument/2006/relationships/image" Target="../media/image4.png"/><Relationship Id="rId15" Type="http://schemas.openxmlformats.org/officeDocument/2006/relationships/customXml" Target="../ink/ink8.xml"/><Relationship Id="rId10" Type="http://schemas.openxmlformats.org/officeDocument/2006/relationships/image" Target="../media/image6.png"/><Relationship Id="rId9" Type="http://schemas.openxmlformats.org/officeDocument/2006/relationships/customXml" Target="../ink/ink4.xml"/><Relationship Id="rId14" Type="http://schemas.openxmlformats.org/officeDocument/2006/relationships/customXml" Target="../ink/ink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microsoft.com/office/2007/relationships/hdphoto" Target="../media/hdphoto2.wdp"/><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20.png"/><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customXml" Target="../ink/ink10.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16141" t="3725" r="15408" b="1"/>
          <a:stretch/>
        </p:blipFill>
        <p:spPr>
          <a:xfrm>
            <a:off x="59960" y="59960"/>
            <a:ext cx="11922177" cy="6857990"/>
          </a:xfrm>
          <a:prstGeom prst="rect">
            <a:avLst/>
          </a:prstGeom>
        </p:spPr>
      </p:pic>
      <p:sp>
        <p:nvSpPr>
          <p:cNvPr id="16" name="Rectangle 15">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477980" y="1654291"/>
            <a:ext cx="4023360" cy="3204134"/>
          </a:xfrm>
        </p:spPr>
        <p:txBody>
          <a:bodyPr vert="horz" lIns="91440" tIns="45720" rIns="91440" bIns="45720" rtlCol="0" anchor="b">
            <a:normAutofit/>
          </a:bodyPr>
          <a:lstStyle/>
          <a:p>
            <a:pPr algn="l">
              <a:lnSpc>
                <a:spcPct val="90000"/>
              </a:lnSpc>
              <a:spcBef>
                <a:spcPct val="0"/>
              </a:spcBef>
            </a:pPr>
            <a:r>
              <a:rPr lang="en-US" sz="4800" dirty="0">
                <a:solidFill>
                  <a:schemeClr val="bg1"/>
                </a:solidFill>
              </a:rPr>
              <a:t>Bellman-ford</a:t>
            </a:r>
          </a:p>
        </p:txBody>
      </p:sp>
      <p:sp>
        <p:nvSpPr>
          <p:cNvPr id="7" name="Text Placeholder 6">
            <a:extLst>
              <a:ext uri="{FF2B5EF4-FFF2-40B4-BE49-F238E27FC236}">
                <a16:creationId xmlns:a16="http://schemas.microsoft.com/office/drawing/2014/main" id="{5D865526-EC39-4780-A2A8-274A80A5C19B}"/>
              </a:ext>
            </a:extLst>
          </p:cNvPr>
          <p:cNvSpPr>
            <a:spLocks noGrp="1"/>
          </p:cNvSpPr>
          <p:nvPr>
            <p:ph type="body" idx="1"/>
          </p:nvPr>
        </p:nvSpPr>
        <p:spPr>
          <a:xfrm>
            <a:off x="477981" y="4858425"/>
            <a:ext cx="4023359" cy="1208141"/>
          </a:xfrm>
        </p:spPr>
        <p:txBody>
          <a:bodyPr vert="horz" lIns="91440" tIns="45720" rIns="91440" bIns="45720" rtlCol="0">
            <a:normAutofit/>
          </a:bodyPr>
          <a:lstStyle/>
          <a:p>
            <a:pPr algn="l">
              <a:lnSpc>
                <a:spcPct val="90000"/>
              </a:lnSpc>
            </a:pPr>
            <a:r>
              <a:rPr lang="en-US" sz="2000">
                <a:solidFill>
                  <a:schemeClr val="bg1"/>
                </a:solidFill>
              </a:rPr>
              <a:t>algorithm</a:t>
            </a:r>
          </a:p>
        </p:txBody>
      </p:sp>
      <p:sp>
        <p:nvSpPr>
          <p:cNvPr id="18" name="Rectangle 1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32C9C0BF-2AD0-9F05-E838-9CF7478EC2E1}"/>
              </a:ext>
            </a:extLst>
          </p:cNvPr>
          <p:cNvSpPr txBox="1"/>
          <p:nvPr/>
        </p:nvSpPr>
        <p:spPr>
          <a:xfrm>
            <a:off x="858688" y="1088286"/>
            <a:ext cx="2090893" cy="1754326"/>
          </a:xfrm>
          <a:prstGeom prst="rect">
            <a:avLst/>
          </a:prstGeom>
          <a:noFill/>
        </p:spPr>
        <p:txBody>
          <a:bodyPr wrap="none" rtlCol="0">
            <a:spAutoFit/>
          </a:bodyPr>
          <a:lstStyle/>
          <a:p>
            <a:r>
              <a:rPr lang="en-US" dirty="0">
                <a:solidFill>
                  <a:schemeClr val="bg2">
                    <a:lumMod val="50000"/>
                  </a:schemeClr>
                </a:solidFill>
              </a:rPr>
              <a:t>Presented By:-</a:t>
            </a:r>
          </a:p>
          <a:p>
            <a:r>
              <a:rPr lang="en-US" dirty="0">
                <a:solidFill>
                  <a:schemeClr val="bg2">
                    <a:lumMod val="50000"/>
                  </a:schemeClr>
                </a:solidFill>
              </a:rPr>
              <a:t>     Bhagwat Jarande</a:t>
            </a:r>
          </a:p>
          <a:p>
            <a:r>
              <a:rPr lang="en-US" dirty="0">
                <a:solidFill>
                  <a:schemeClr val="bg2">
                    <a:lumMod val="50000"/>
                  </a:schemeClr>
                </a:solidFill>
              </a:rPr>
              <a:t>     Mansi Jeurkar</a:t>
            </a:r>
          </a:p>
          <a:p>
            <a:r>
              <a:rPr lang="en-US" dirty="0">
                <a:solidFill>
                  <a:schemeClr val="bg2">
                    <a:lumMod val="50000"/>
                  </a:schemeClr>
                </a:solidFill>
              </a:rPr>
              <a:t>     Krishna Jolamwar</a:t>
            </a:r>
          </a:p>
          <a:p>
            <a:r>
              <a:rPr lang="en-US" dirty="0">
                <a:solidFill>
                  <a:schemeClr val="bg2">
                    <a:lumMod val="50000"/>
                  </a:schemeClr>
                </a:solidFill>
              </a:rPr>
              <a:t>     Suraj Jude</a:t>
            </a:r>
          </a:p>
          <a:p>
            <a:r>
              <a:rPr lang="en-US" dirty="0">
                <a:solidFill>
                  <a:schemeClr val="bg2">
                    <a:lumMod val="50000"/>
                  </a:schemeClr>
                </a:solidFill>
              </a:rPr>
              <a:t>     Gayatri Jumale</a:t>
            </a:r>
            <a:endParaRPr lang="en-IN" dirty="0">
              <a:solidFill>
                <a:schemeClr val="bg2">
                  <a:lumMod val="50000"/>
                </a:schemeClr>
              </a:solidFill>
            </a:endParaRPr>
          </a:p>
        </p:txBody>
      </p:sp>
    </p:spTree>
    <p:extLst>
      <p:ext uri="{BB962C8B-B14F-4D97-AF65-F5344CB8AC3E}">
        <p14:creationId xmlns:p14="http://schemas.microsoft.com/office/powerpoint/2010/main" val="392783230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a:xfrm>
            <a:off x="7068818" y="308113"/>
            <a:ext cx="4846320" cy="1114387"/>
          </a:xfrm>
          <a:blipFill dpi="0" rotWithShape="1">
            <a:blip r:embed="rId2">
              <a:alphaModFix amt="59000"/>
            </a:blip>
            <a:srcRect/>
            <a:tile tx="0" ty="0" sx="100000" sy="100000" flip="none" algn="tl"/>
          </a:blipFill>
        </p:spPr>
        <p:txBody>
          <a:bodyPr anchor="t">
            <a:normAutofit fontScale="90000"/>
          </a:bodyPr>
          <a:lstStyle/>
          <a:p>
            <a:r>
              <a:rPr lang="en-US" dirty="0"/>
              <a:t>introduction</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a:xfrm>
            <a:off x="11549269" y="6468303"/>
            <a:ext cx="443948" cy="365125"/>
          </a:xfrm>
        </p:spPr>
        <p:txBody>
          <a:bodyPr anchor="ctr">
            <a:normAutofit/>
          </a:bodyPr>
          <a:lstStyle/>
          <a:p>
            <a:pPr>
              <a:spcAft>
                <a:spcPts val="600"/>
              </a:spcAft>
            </a:pPr>
            <a:fld id="{8C2E478F-E849-4A8C-AF1F-CBCC78A7CBFA}" type="slidenum">
              <a:rPr lang="en-US" smtClean="0"/>
              <a:pPr>
                <a:spcAft>
                  <a:spcPts val="600"/>
                </a:spcAft>
              </a:pPr>
              <a:t>2</a:t>
            </a:fld>
            <a:endParaRPr lang="en-US"/>
          </a:p>
        </p:txBody>
      </p:sp>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2215" y="1529556"/>
            <a:ext cx="4114800" cy="3798888"/>
          </a:xfrm>
        </p:spPr>
        <p:txBody>
          <a:bodyPr>
            <a:normAutofit fontScale="92500"/>
          </a:bodyPr>
          <a:lstStyle/>
          <a:p>
            <a:r>
              <a:rPr lang="en-US" sz="1700" spc="0" dirty="0">
                <a:latin typeface="Aharoni" panose="02010803020104030203" pitchFamily="2" charset="-79"/>
                <a:cs typeface="Aharoni" panose="02010803020104030203" pitchFamily="2" charset="-79"/>
              </a:rPr>
              <a:t>Imagine you have a map with different cities connected by roads, each road having a certain distance. The Bellman-Ford algorithm is like a guide that helps you find the shortest path from one city to all other cities, even if some roads have negative lengths. It’s like a GPS for computers, useful for figuring out that quickest way to get from one point to another in a network</a:t>
            </a:r>
            <a:r>
              <a:rPr lang="en-US" sz="1700" spc="0" dirty="0"/>
              <a:t>. </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3E616A5-ECE2-4845-E1AC-E8A563DFD05C}"/>
                  </a:ext>
                </a:extLst>
              </p14:cNvPr>
              <p14:cNvContentPartPr/>
              <p14:nvPr/>
            </p14:nvContentPartPr>
            <p14:xfrm>
              <a:off x="6014560" y="5730080"/>
              <a:ext cx="120600" cy="149040"/>
            </p14:xfrm>
          </p:contentPart>
        </mc:Choice>
        <mc:Fallback xmlns="">
          <p:pic>
            <p:nvPicPr>
              <p:cNvPr id="3" name="Ink 2">
                <a:extLst>
                  <a:ext uri="{FF2B5EF4-FFF2-40B4-BE49-F238E27FC236}">
                    <a16:creationId xmlns:a16="http://schemas.microsoft.com/office/drawing/2014/main" id="{83E616A5-ECE2-4845-E1AC-E8A563DFD05C}"/>
                  </a:ext>
                </a:extLst>
              </p:cNvPr>
              <p:cNvPicPr/>
              <p:nvPr/>
            </p:nvPicPr>
            <p:blipFill>
              <a:blip r:embed="rId5"/>
              <a:stretch>
                <a:fillRect/>
              </a:stretch>
            </p:blipFill>
            <p:spPr>
              <a:xfrm>
                <a:off x="5960920" y="5622080"/>
                <a:ext cx="22824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1F2E7578-FA99-717F-1DCC-FCBC30F9B115}"/>
                  </a:ext>
                </a:extLst>
              </p14:cNvPr>
              <p14:cNvContentPartPr/>
              <p14:nvPr/>
            </p14:nvContentPartPr>
            <p14:xfrm>
              <a:off x="6080800" y="5897840"/>
              <a:ext cx="360" cy="360"/>
            </p14:xfrm>
          </p:contentPart>
        </mc:Choice>
        <mc:Fallback xmlns="">
          <p:pic>
            <p:nvPicPr>
              <p:cNvPr id="4" name="Ink 3">
                <a:extLst>
                  <a:ext uri="{FF2B5EF4-FFF2-40B4-BE49-F238E27FC236}">
                    <a16:creationId xmlns:a16="http://schemas.microsoft.com/office/drawing/2014/main" id="{1F2E7578-FA99-717F-1DCC-FCBC30F9B115}"/>
                  </a:ext>
                </a:extLst>
              </p:cNvPr>
              <p:cNvPicPr/>
              <p:nvPr/>
            </p:nvPicPr>
            <p:blipFill>
              <a:blip r:embed="rId7"/>
              <a:stretch>
                <a:fillRect/>
              </a:stretch>
            </p:blipFill>
            <p:spPr>
              <a:xfrm>
                <a:off x="6026800" y="578984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285C3BC8-AD6D-46BF-72A0-FE6F6D2F0CD0}"/>
                  </a:ext>
                </a:extLst>
              </p14:cNvPr>
              <p14:cNvContentPartPr/>
              <p14:nvPr/>
            </p14:nvContentPartPr>
            <p14:xfrm>
              <a:off x="6080800" y="5897840"/>
              <a:ext cx="360" cy="360"/>
            </p14:xfrm>
          </p:contentPart>
        </mc:Choice>
        <mc:Fallback xmlns="">
          <p:pic>
            <p:nvPicPr>
              <p:cNvPr id="5" name="Ink 4">
                <a:extLst>
                  <a:ext uri="{FF2B5EF4-FFF2-40B4-BE49-F238E27FC236}">
                    <a16:creationId xmlns:a16="http://schemas.microsoft.com/office/drawing/2014/main" id="{285C3BC8-AD6D-46BF-72A0-FE6F6D2F0CD0}"/>
                  </a:ext>
                </a:extLst>
              </p:cNvPr>
              <p:cNvPicPr/>
              <p:nvPr/>
            </p:nvPicPr>
            <p:blipFill>
              <a:blip r:embed="rId7"/>
              <a:stretch>
                <a:fillRect/>
              </a:stretch>
            </p:blipFill>
            <p:spPr>
              <a:xfrm>
                <a:off x="6026800" y="578984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659B4354-DD0C-6900-F33A-53F546153F95}"/>
                  </a:ext>
                </a:extLst>
              </p14:cNvPr>
              <p14:cNvContentPartPr/>
              <p14:nvPr/>
            </p14:nvContentPartPr>
            <p14:xfrm>
              <a:off x="6080800" y="5897840"/>
              <a:ext cx="360" cy="360"/>
            </p14:xfrm>
          </p:contentPart>
        </mc:Choice>
        <mc:Fallback xmlns="">
          <p:pic>
            <p:nvPicPr>
              <p:cNvPr id="8" name="Ink 7">
                <a:extLst>
                  <a:ext uri="{FF2B5EF4-FFF2-40B4-BE49-F238E27FC236}">
                    <a16:creationId xmlns:a16="http://schemas.microsoft.com/office/drawing/2014/main" id="{659B4354-DD0C-6900-F33A-53F546153F95}"/>
                  </a:ext>
                </a:extLst>
              </p:cNvPr>
              <p:cNvPicPr/>
              <p:nvPr/>
            </p:nvPicPr>
            <p:blipFill>
              <a:blip r:embed="rId10"/>
              <a:stretch>
                <a:fillRect/>
              </a:stretch>
            </p:blipFill>
            <p:spPr>
              <a:xfrm>
                <a:off x="6026800" y="578984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F0D54EC6-7D2E-F397-CF6D-929147073BB5}"/>
                  </a:ext>
                </a:extLst>
              </p14:cNvPr>
              <p14:cNvContentPartPr/>
              <p14:nvPr/>
            </p14:nvContentPartPr>
            <p14:xfrm>
              <a:off x="6080800" y="5897840"/>
              <a:ext cx="360" cy="360"/>
            </p14:xfrm>
          </p:contentPart>
        </mc:Choice>
        <mc:Fallback xmlns="">
          <p:pic>
            <p:nvPicPr>
              <p:cNvPr id="9" name="Ink 8">
                <a:extLst>
                  <a:ext uri="{FF2B5EF4-FFF2-40B4-BE49-F238E27FC236}">
                    <a16:creationId xmlns:a16="http://schemas.microsoft.com/office/drawing/2014/main" id="{F0D54EC6-7D2E-F397-CF6D-929147073BB5}"/>
                  </a:ext>
                </a:extLst>
              </p:cNvPr>
              <p:cNvPicPr/>
              <p:nvPr/>
            </p:nvPicPr>
            <p:blipFill>
              <a:blip r:embed="rId7"/>
              <a:stretch>
                <a:fillRect/>
              </a:stretch>
            </p:blipFill>
            <p:spPr>
              <a:xfrm>
                <a:off x="6026800" y="5789840"/>
                <a:ext cx="108000" cy="216000"/>
              </a:xfrm>
              <a:prstGeom prst="rect">
                <a:avLst/>
              </a:prstGeom>
            </p:spPr>
          </p:pic>
        </mc:Fallback>
      </mc:AlternateContent>
      <p:grpSp>
        <p:nvGrpSpPr>
          <p:cNvPr id="14" name="Group 13">
            <a:extLst>
              <a:ext uri="{FF2B5EF4-FFF2-40B4-BE49-F238E27FC236}">
                <a16:creationId xmlns:a16="http://schemas.microsoft.com/office/drawing/2014/main" id="{F063C914-4276-CEC7-A3DA-39E85B86C0A0}"/>
              </a:ext>
            </a:extLst>
          </p:cNvPr>
          <p:cNvGrpSpPr/>
          <p:nvPr/>
        </p:nvGrpSpPr>
        <p:grpSpPr>
          <a:xfrm>
            <a:off x="5954805" y="5684910"/>
            <a:ext cx="205200" cy="354960"/>
            <a:chOff x="5954805" y="5684910"/>
            <a:chExt cx="205200" cy="354960"/>
          </a:xfrm>
        </p:grpSpPr>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CF0790AF-71F8-F419-B93D-F3DB5DE0EC12}"/>
                    </a:ext>
                  </a:extLst>
                </p14:cNvPr>
                <p14:cNvContentPartPr/>
                <p14:nvPr/>
              </p14:nvContentPartPr>
              <p14:xfrm>
                <a:off x="6099525" y="5901630"/>
                <a:ext cx="360" cy="360"/>
              </p14:xfrm>
            </p:contentPart>
          </mc:Choice>
          <mc:Fallback xmlns="">
            <p:pic>
              <p:nvPicPr>
                <p:cNvPr id="10" name="Ink 9">
                  <a:extLst>
                    <a:ext uri="{FF2B5EF4-FFF2-40B4-BE49-F238E27FC236}">
                      <a16:creationId xmlns:a16="http://schemas.microsoft.com/office/drawing/2014/main" id="{CF0790AF-71F8-F419-B93D-F3DB5DE0EC12}"/>
                    </a:ext>
                  </a:extLst>
                </p:cNvPr>
                <p:cNvPicPr/>
                <p:nvPr/>
              </p:nvPicPr>
              <p:blipFill>
                <a:blip r:embed="rId13"/>
                <a:stretch>
                  <a:fillRect/>
                </a:stretch>
              </p:blipFill>
              <p:spPr>
                <a:xfrm>
                  <a:off x="6093405" y="589551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CFF0C40B-3EB1-60E1-0866-9DB13FFB86C8}"/>
                    </a:ext>
                  </a:extLst>
                </p14:cNvPr>
                <p14:cNvContentPartPr/>
                <p14:nvPr/>
              </p14:nvContentPartPr>
              <p14:xfrm>
                <a:off x="6099525" y="5901630"/>
                <a:ext cx="360" cy="360"/>
              </p14:xfrm>
            </p:contentPart>
          </mc:Choice>
          <mc:Fallback xmlns="">
            <p:pic>
              <p:nvPicPr>
                <p:cNvPr id="11" name="Ink 10">
                  <a:extLst>
                    <a:ext uri="{FF2B5EF4-FFF2-40B4-BE49-F238E27FC236}">
                      <a16:creationId xmlns:a16="http://schemas.microsoft.com/office/drawing/2014/main" id="{CFF0C40B-3EB1-60E1-0866-9DB13FFB86C8}"/>
                    </a:ext>
                  </a:extLst>
                </p:cNvPr>
                <p:cNvPicPr/>
                <p:nvPr/>
              </p:nvPicPr>
              <p:blipFill>
                <a:blip r:embed="rId13"/>
                <a:stretch>
                  <a:fillRect/>
                </a:stretch>
              </p:blipFill>
              <p:spPr>
                <a:xfrm>
                  <a:off x="6093405" y="589551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2BDF9CF2-EFC6-34C1-4040-0712C8D722B3}"/>
                    </a:ext>
                  </a:extLst>
                </p14:cNvPr>
                <p14:cNvContentPartPr/>
                <p14:nvPr/>
              </p14:nvContentPartPr>
              <p14:xfrm>
                <a:off x="5954805" y="5684910"/>
                <a:ext cx="205200" cy="354960"/>
              </p14:xfrm>
            </p:contentPart>
          </mc:Choice>
          <mc:Fallback xmlns="">
            <p:pic>
              <p:nvPicPr>
                <p:cNvPr id="13" name="Ink 12">
                  <a:extLst>
                    <a:ext uri="{FF2B5EF4-FFF2-40B4-BE49-F238E27FC236}">
                      <a16:creationId xmlns:a16="http://schemas.microsoft.com/office/drawing/2014/main" id="{2BDF9CF2-EFC6-34C1-4040-0712C8D722B3}"/>
                    </a:ext>
                  </a:extLst>
                </p:cNvPr>
                <p:cNvPicPr/>
                <p:nvPr/>
              </p:nvPicPr>
              <p:blipFill>
                <a:blip r:embed="rId16"/>
                <a:stretch>
                  <a:fillRect/>
                </a:stretch>
              </p:blipFill>
              <p:spPr>
                <a:xfrm>
                  <a:off x="5948685" y="5678790"/>
                  <a:ext cx="217440" cy="367200"/>
                </a:xfrm>
                <a:prstGeom prst="rect">
                  <a:avLst/>
                </a:prstGeom>
              </p:spPr>
            </p:pic>
          </mc:Fallback>
        </mc:AlternateContent>
      </p:grpSp>
      <p:pic>
        <p:nvPicPr>
          <p:cNvPr id="15" name="Picture 14">
            <a:extLst>
              <a:ext uri="{FF2B5EF4-FFF2-40B4-BE49-F238E27FC236}">
                <a16:creationId xmlns:a16="http://schemas.microsoft.com/office/drawing/2014/main" id="{673CD828-A6AA-3683-02FC-DF5AB7544D9F}"/>
              </a:ext>
            </a:extLst>
          </p:cNvPr>
          <p:cNvPicPr>
            <a:picLocks noChangeAspect="1"/>
          </p:cNvPicPr>
          <p:nvPr/>
        </p:nvPicPr>
        <p:blipFill rotWithShape="1">
          <a:blip r:embed="rId17"/>
          <a:srcRect l="2702" r="8911"/>
          <a:stretch/>
        </p:blipFill>
        <p:spPr>
          <a:xfrm>
            <a:off x="142875" y="308113"/>
            <a:ext cx="6852665" cy="5867908"/>
          </a:xfrm>
          <a:prstGeom prst="rect">
            <a:avLst/>
          </a:prstGeom>
        </p:spPr>
      </p:pic>
      <p:sp>
        <p:nvSpPr>
          <p:cNvPr id="20" name="TextBox 19">
            <a:extLst>
              <a:ext uri="{FF2B5EF4-FFF2-40B4-BE49-F238E27FC236}">
                <a16:creationId xmlns:a16="http://schemas.microsoft.com/office/drawing/2014/main" id="{D9FAEF95-D004-F292-44AE-D878068A6169}"/>
              </a:ext>
            </a:extLst>
          </p:cNvPr>
          <p:cNvSpPr txBox="1"/>
          <p:nvPr/>
        </p:nvSpPr>
        <p:spPr>
          <a:xfrm>
            <a:off x="5877290" y="5407099"/>
            <a:ext cx="1024639" cy="523220"/>
          </a:xfrm>
          <a:prstGeom prst="rect">
            <a:avLst/>
          </a:prstGeom>
          <a:noFill/>
        </p:spPr>
        <p:txBody>
          <a:bodyPr wrap="none" rtlCol="0">
            <a:spAutoFit/>
          </a:bodyPr>
          <a:lstStyle/>
          <a:p>
            <a:r>
              <a:rPr lang="en-IN" sz="2800" dirty="0">
                <a:solidFill>
                  <a:schemeClr val="tx1">
                    <a:lumMod val="75000"/>
                    <a:lumOff val="25000"/>
                  </a:schemeClr>
                </a:solidFill>
              </a:rPr>
              <a:t>2017)</a:t>
            </a:r>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AF0B929-152D-9ED7-44A8-E6D291DF1E4A}"/>
              </a:ext>
            </a:extLst>
          </p:cNvPr>
          <p:cNvSpPr>
            <a:spLocks noGrp="1"/>
          </p:cNvSpPr>
          <p:nvPr>
            <p:ph type="sldNum" sz="quarter" idx="11"/>
          </p:nvPr>
        </p:nvSpPr>
        <p:spPr/>
        <p:txBody>
          <a:bodyPr/>
          <a:lstStyle/>
          <a:p>
            <a:fld id="{8C2E478F-E849-4A8C-AF1F-CBCC78A7CBFA}" type="slidenum">
              <a:rPr lang="en-US" smtClean="0"/>
              <a:t>3</a:t>
            </a:fld>
            <a:endParaRPr lang="en-US" dirty="0"/>
          </a:p>
        </p:txBody>
      </p:sp>
      <p:sp>
        <p:nvSpPr>
          <p:cNvPr id="8" name="TextBox 7">
            <a:extLst>
              <a:ext uri="{FF2B5EF4-FFF2-40B4-BE49-F238E27FC236}">
                <a16:creationId xmlns:a16="http://schemas.microsoft.com/office/drawing/2014/main" id="{C3497704-13E4-1606-A44A-0600F3C78834}"/>
              </a:ext>
            </a:extLst>
          </p:cNvPr>
          <p:cNvSpPr txBox="1"/>
          <p:nvPr/>
        </p:nvSpPr>
        <p:spPr>
          <a:xfrm>
            <a:off x="3825551" y="447869"/>
            <a:ext cx="3191515" cy="369332"/>
          </a:xfrm>
          <a:prstGeom prst="rect">
            <a:avLst/>
          </a:prstGeom>
          <a:noFill/>
        </p:spPr>
        <p:txBody>
          <a:bodyPr wrap="none" rtlCol="0">
            <a:spAutoFit/>
          </a:bodyPr>
          <a:lstStyle/>
          <a:p>
            <a:r>
              <a:rPr lang="en-IN" dirty="0"/>
              <a:t>What Is Bellman-Ford Algorithm</a:t>
            </a:r>
          </a:p>
        </p:txBody>
      </p:sp>
      <p:sp>
        <p:nvSpPr>
          <p:cNvPr id="9" name="Flowchart: Terminator 8">
            <a:extLst>
              <a:ext uri="{FF2B5EF4-FFF2-40B4-BE49-F238E27FC236}">
                <a16:creationId xmlns:a16="http://schemas.microsoft.com/office/drawing/2014/main" id="{8AD566A3-8A33-FD64-7A3D-A10B14744744}"/>
              </a:ext>
            </a:extLst>
          </p:cNvPr>
          <p:cNvSpPr/>
          <p:nvPr/>
        </p:nvSpPr>
        <p:spPr>
          <a:xfrm>
            <a:off x="3694923" y="382555"/>
            <a:ext cx="3648270" cy="503853"/>
          </a:xfrm>
          <a:prstGeom prst="flowChartTerminator">
            <a:avLst/>
          </a:prstGeom>
          <a:solidFill>
            <a:schemeClr val="accent1">
              <a:alpha val="5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248602F0-0A41-AD52-4D97-9EAA3DC434BA}"/>
              </a:ext>
            </a:extLst>
          </p:cNvPr>
          <p:cNvSpPr txBox="1"/>
          <p:nvPr/>
        </p:nvSpPr>
        <p:spPr>
          <a:xfrm>
            <a:off x="342900" y="1524000"/>
            <a:ext cx="11814068" cy="3693319"/>
          </a:xfrm>
          <a:prstGeom prst="rect">
            <a:avLst/>
          </a:prstGeom>
          <a:solidFill>
            <a:schemeClr val="bg1"/>
          </a:solidFill>
        </p:spPr>
        <p:txBody>
          <a:bodyPr wrap="none" rtlCol="0">
            <a:spAutoFit/>
          </a:bodyPr>
          <a:lstStyle/>
          <a:p>
            <a:pPr marL="285750" indent="-285750">
              <a:buFont typeface="Wingdings" panose="05000000000000000000" pitchFamily="2" charset="2"/>
              <a:buChar char="Ø"/>
            </a:pPr>
            <a:r>
              <a:rPr lang="en-IN" dirty="0"/>
              <a:t>The Bellman-Ford algorithm is a very popular algorithm used to find the shortest-path from one node to all the other </a:t>
            </a:r>
          </a:p>
          <a:p>
            <a:r>
              <a:rPr lang="en-IN" dirty="0"/>
              <a:t>     nodes in a weighted graph.</a:t>
            </a:r>
          </a:p>
          <a:p>
            <a:endParaRPr lang="en-IN" dirty="0"/>
          </a:p>
          <a:p>
            <a:endParaRPr lang="en-IN" dirty="0"/>
          </a:p>
          <a:p>
            <a:pPr marL="285750" indent="-285750">
              <a:buFont typeface="Wingdings" panose="05000000000000000000" pitchFamily="2" charset="2"/>
              <a:buChar char="Ø"/>
            </a:pPr>
            <a:r>
              <a:rPr lang="en-IN" dirty="0"/>
              <a:t>The Bellman-Ford algorithm can work on graphs with negative-weighted edges.</a:t>
            </a:r>
          </a:p>
          <a:p>
            <a:endParaRPr lang="en-IN" dirty="0"/>
          </a:p>
          <a:p>
            <a:endParaRPr lang="en-IN" dirty="0"/>
          </a:p>
          <a:p>
            <a:pPr marL="285750" indent="-285750">
              <a:buFont typeface="Wingdings" panose="05000000000000000000" pitchFamily="2" charset="2"/>
              <a:buChar char="Ø"/>
            </a:pPr>
            <a:r>
              <a:rPr lang="en-IN" dirty="0"/>
              <a:t>It is slower than Dijkstra’s algorithm for the same problem, but it is capable of handling graphs in which some of the edge</a:t>
            </a:r>
          </a:p>
          <a:p>
            <a:r>
              <a:rPr lang="en-IN" dirty="0"/>
              <a:t>     weights are negative numbers.</a:t>
            </a:r>
          </a:p>
          <a:p>
            <a:endParaRPr lang="en-IN" dirty="0"/>
          </a:p>
          <a:p>
            <a:endParaRPr lang="en-IN" dirty="0"/>
          </a:p>
          <a:p>
            <a:pPr marL="285750" indent="-285750">
              <a:buFont typeface="Wingdings" panose="05000000000000000000" pitchFamily="2" charset="2"/>
              <a:buChar char="Ø"/>
            </a:pPr>
            <a:r>
              <a:rPr lang="en-IN" dirty="0"/>
              <a:t>The Bellman-Ford algorithm’s primary principle is that it starts with a single source and calculated the distance to each </a:t>
            </a:r>
          </a:p>
          <a:p>
            <a:r>
              <a:rPr lang="en-IN" dirty="0"/>
              <a:t>     node. The distance is initially unknown and assumed to be infinite.</a:t>
            </a:r>
          </a:p>
        </p:txBody>
      </p:sp>
      <p:sp>
        <p:nvSpPr>
          <p:cNvPr id="14" name="TextBox 13">
            <a:extLst>
              <a:ext uri="{FF2B5EF4-FFF2-40B4-BE49-F238E27FC236}">
                <a16:creationId xmlns:a16="http://schemas.microsoft.com/office/drawing/2014/main" id="{BC33CAE5-1554-E8D1-3D51-8C37D9326AC3}"/>
              </a:ext>
            </a:extLst>
          </p:cNvPr>
          <p:cNvSpPr txBox="1"/>
          <p:nvPr/>
        </p:nvSpPr>
        <p:spPr>
          <a:xfrm>
            <a:off x="5638800" y="2971800"/>
            <a:ext cx="914400" cy="9144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881422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ED3989-8541-7F22-D9D0-BA58CEC9E533}"/>
              </a:ext>
            </a:extLst>
          </p:cNvPr>
          <p:cNvSpPr txBox="1"/>
          <p:nvPr/>
        </p:nvSpPr>
        <p:spPr>
          <a:xfrm>
            <a:off x="1026367" y="382555"/>
            <a:ext cx="5318449" cy="861774"/>
          </a:xfrm>
          <a:prstGeom prst="rect">
            <a:avLst/>
          </a:prstGeom>
          <a:noFill/>
        </p:spPr>
        <p:txBody>
          <a:bodyPr wrap="square" rtlCol="0">
            <a:spAutoFit/>
          </a:bodyPr>
          <a:lstStyle/>
          <a:p>
            <a:r>
              <a:rPr lang="en-US" sz="2500" dirty="0"/>
              <a:t>The Idea Behind The Bellman-Ford</a:t>
            </a:r>
          </a:p>
          <a:p>
            <a:r>
              <a:rPr lang="en-US" sz="2500" dirty="0"/>
              <a:t>                         Algorithm</a:t>
            </a:r>
            <a:endParaRPr lang="en-IN" sz="2500" dirty="0"/>
          </a:p>
        </p:txBody>
      </p:sp>
      <p:sp>
        <p:nvSpPr>
          <p:cNvPr id="6" name="Oval 5">
            <a:extLst>
              <a:ext uri="{FF2B5EF4-FFF2-40B4-BE49-F238E27FC236}">
                <a16:creationId xmlns:a16="http://schemas.microsoft.com/office/drawing/2014/main" id="{59CA8980-D623-BA11-B8B9-84EFA8B6FB30}"/>
              </a:ext>
            </a:extLst>
          </p:cNvPr>
          <p:cNvSpPr/>
          <p:nvPr/>
        </p:nvSpPr>
        <p:spPr>
          <a:xfrm>
            <a:off x="587829" y="158620"/>
            <a:ext cx="5508171" cy="1138335"/>
          </a:xfrm>
          <a:prstGeom prst="ellipse">
            <a:avLst/>
          </a:prstGeom>
          <a:solidFill>
            <a:srgbClr val="FF0000">
              <a:alpha val="22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F30D5660-147D-6368-3D43-8A4BCE08211B}"/>
              </a:ext>
            </a:extLst>
          </p:cNvPr>
          <p:cNvSpPr txBox="1"/>
          <p:nvPr/>
        </p:nvSpPr>
        <p:spPr>
          <a:xfrm>
            <a:off x="587829" y="1580379"/>
            <a:ext cx="5508171" cy="4247317"/>
          </a:xfrm>
          <a:prstGeom prst="rect">
            <a:avLst/>
          </a:prstGeom>
          <a:noFill/>
        </p:spPr>
        <p:txBody>
          <a:bodyPr wrap="square" rtlCol="0">
            <a:spAutoFit/>
          </a:bodyPr>
          <a:lstStyle/>
          <a:p>
            <a:pPr marL="285750" indent="-285750">
              <a:buFont typeface="Wingdings" panose="05000000000000000000" pitchFamily="2" charset="2"/>
              <a:buChar char="Ø"/>
            </a:pPr>
            <a:r>
              <a:rPr lang="en-US" b="0" i="1" dirty="0">
                <a:effectLst/>
              </a:rPr>
              <a:t>The Bellman-Ford algorithm’s primary principle is that it starts with a single source and calculates the distance to each node.</a:t>
            </a:r>
          </a:p>
          <a:p>
            <a:endParaRPr lang="en-US" b="0" i="1" dirty="0">
              <a:effectLst/>
            </a:endParaRPr>
          </a:p>
          <a:p>
            <a:pPr marL="285750" indent="-285750">
              <a:buFont typeface="Wingdings" panose="05000000000000000000" pitchFamily="2" charset="2"/>
              <a:buChar char="Ø"/>
            </a:pPr>
            <a:r>
              <a:rPr lang="en-US" b="0" i="1" dirty="0">
                <a:effectLst/>
              </a:rPr>
              <a:t> The distance is initially unknown and assumed to be infinite, but as time goes on, the algorithm relaxes those paths by identifying a few shorter paths. </a:t>
            </a:r>
          </a:p>
          <a:p>
            <a:pPr marL="285750" indent="-285750">
              <a:buFont typeface="Wingdings" panose="05000000000000000000" pitchFamily="2" charset="2"/>
              <a:buChar char="Ø"/>
            </a:pPr>
            <a:endParaRPr lang="en-US" i="1" dirty="0"/>
          </a:p>
          <a:p>
            <a:pPr marL="285750" indent="-285750">
              <a:buFont typeface="Wingdings" panose="05000000000000000000" pitchFamily="2" charset="2"/>
              <a:buChar char="Ø"/>
            </a:pPr>
            <a:r>
              <a:rPr lang="en-US" b="0" i="1" dirty="0">
                <a:effectLst/>
              </a:rPr>
              <a:t>Hence it is said that Bellman-Ford is based on “</a:t>
            </a:r>
            <a:r>
              <a:rPr lang="en-US" b="1" i="1" dirty="0">
                <a:effectLst/>
              </a:rPr>
              <a:t>Principle of Relaxation</a:t>
            </a:r>
            <a:r>
              <a:rPr lang="en-US" b="0" i="1" dirty="0">
                <a:effectLst/>
              </a:rPr>
              <a:t>“.</a:t>
            </a:r>
          </a:p>
          <a:p>
            <a:endParaRPr lang="en-US" b="0" i="1" dirty="0">
              <a:effectLst/>
            </a:endParaRPr>
          </a:p>
          <a:p>
            <a:pPr marL="285750" indent="-285750">
              <a:buFont typeface="Wingdings" panose="05000000000000000000" pitchFamily="2" charset="2"/>
              <a:buChar char="Ø"/>
            </a:pPr>
            <a:r>
              <a:rPr lang="en-IN" dirty="0"/>
              <a:t>It states that for the graph having N vertices, all the edges should be relaxed N-1 times to compute the single source shortest path.</a:t>
            </a:r>
          </a:p>
          <a:p>
            <a:endParaRPr lang="en-IN" dirty="0"/>
          </a:p>
        </p:txBody>
      </p:sp>
      <p:sp>
        <p:nvSpPr>
          <p:cNvPr id="9" name="TextBox 8">
            <a:extLst>
              <a:ext uri="{FF2B5EF4-FFF2-40B4-BE49-F238E27FC236}">
                <a16:creationId xmlns:a16="http://schemas.microsoft.com/office/drawing/2014/main" id="{7DD0AA4C-2CF1-9439-BE8E-B45B3AAE961C}"/>
              </a:ext>
            </a:extLst>
          </p:cNvPr>
          <p:cNvSpPr txBox="1"/>
          <p:nvPr/>
        </p:nvSpPr>
        <p:spPr>
          <a:xfrm>
            <a:off x="7673202" y="382555"/>
            <a:ext cx="3492431" cy="477054"/>
          </a:xfrm>
          <a:prstGeom prst="rect">
            <a:avLst/>
          </a:prstGeom>
          <a:noFill/>
        </p:spPr>
        <p:txBody>
          <a:bodyPr wrap="none" rtlCol="0">
            <a:spAutoFit/>
          </a:bodyPr>
          <a:lstStyle/>
          <a:p>
            <a:r>
              <a:rPr lang="en-US" sz="2500" dirty="0"/>
              <a:t>Negative Weighted edges</a:t>
            </a:r>
            <a:endParaRPr lang="en-IN" sz="2500" dirty="0"/>
          </a:p>
        </p:txBody>
      </p:sp>
      <p:sp>
        <p:nvSpPr>
          <p:cNvPr id="10" name="Flowchart: Terminator 9">
            <a:extLst>
              <a:ext uri="{FF2B5EF4-FFF2-40B4-BE49-F238E27FC236}">
                <a16:creationId xmlns:a16="http://schemas.microsoft.com/office/drawing/2014/main" id="{70A5A115-184E-C0C0-4702-5D036F0DAEA5}"/>
              </a:ext>
            </a:extLst>
          </p:cNvPr>
          <p:cNvSpPr/>
          <p:nvPr/>
        </p:nvSpPr>
        <p:spPr>
          <a:xfrm>
            <a:off x="7478650" y="158620"/>
            <a:ext cx="3881534" cy="961053"/>
          </a:xfrm>
          <a:prstGeom prst="flowChartTerminator">
            <a:avLst/>
          </a:prstGeom>
          <a:solidFill>
            <a:srgbClr val="FF0000">
              <a:alpha val="22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62063C97-683E-75A3-5622-65A2DD9187AA}"/>
              </a:ext>
            </a:extLst>
          </p:cNvPr>
          <p:cNvSpPr txBox="1"/>
          <p:nvPr/>
        </p:nvSpPr>
        <p:spPr>
          <a:xfrm>
            <a:off x="6572250" y="1577876"/>
            <a:ext cx="5353049" cy="4247317"/>
          </a:xfrm>
          <a:prstGeom prst="rect">
            <a:avLst/>
          </a:prstGeom>
          <a:noFill/>
        </p:spPr>
        <p:txBody>
          <a:bodyPr wrap="square" rtlCol="0">
            <a:spAutoFit/>
          </a:bodyPr>
          <a:lstStyle/>
          <a:p>
            <a:pPr marL="285750" indent="-285750">
              <a:buFont typeface="Wingdings" panose="05000000000000000000" pitchFamily="2" charset="2"/>
              <a:buChar char="Ø"/>
            </a:pPr>
            <a:r>
              <a:rPr lang="en-US" b="0" i="0" dirty="0">
                <a:effectLst/>
                <a:latin typeface="-apple-system"/>
              </a:rPr>
              <a:t>Negative weights are edge values that represent a cost or a loss, such as a penalty, a fee, or a discount. </a:t>
            </a:r>
          </a:p>
          <a:p>
            <a:endParaRPr lang="en-US" b="0" i="0" dirty="0">
              <a:effectLst/>
              <a:latin typeface="-apple-system"/>
            </a:endParaRPr>
          </a:p>
          <a:p>
            <a:pPr marL="285750" indent="-285750">
              <a:buFont typeface="Wingdings" panose="05000000000000000000" pitchFamily="2" charset="2"/>
              <a:buChar char="Ø"/>
            </a:pPr>
            <a:r>
              <a:rPr lang="en-US" b="0" i="0" dirty="0">
                <a:effectLst/>
                <a:latin typeface="-apple-system"/>
              </a:rPr>
              <a:t>For example, in a currency exchange graph, a negative weight could indicate a favorable exchange rate that gives you more money.</a:t>
            </a:r>
          </a:p>
          <a:p>
            <a:endParaRPr lang="en-US" b="0" i="0" dirty="0">
              <a:effectLst/>
              <a:latin typeface="-apple-system"/>
            </a:endParaRPr>
          </a:p>
          <a:p>
            <a:pPr marL="285750" indent="-285750">
              <a:buFont typeface="Wingdings" panose="05000000000000000000" pitchFamily="2" charset="2"/>
              <a:buChar char="Ø"/>
            </a:pPr>
            <a:r>
              <a:rPr lang="en-US" b="0" i="0" dirty="0">
                <a:effectLst/>
                <a:latin typeface="-apple-system"/>
              </a:rPr>
              <a:t>Negative weights are not necessarily problematic for graph algorithms, as long as they do not create negative cycles.</a:t>
            </a:r>
          </a:p>
          <a:p>
            <a:pPr marL="285750" indent="-285750">
              <a:buFont typeface="Wingdings" panose="05000000000000000000" pitchFamily="2" charset="2"/>
              <a:buChar char="Ø"/>
            </a:pPr>
            <a:endParaRPr lang="en-US" b="0" i="0" dirty="0">
              <a:effectLst/>
              <a:latin typeface="-apple-system"/>
            </a:endParaRPr>
          </a:p>
          <a:p>
            <a:pPr marL="285750" indent="-285750">
              <a:buFont typeface="Wingdings" panose="05000000000000000000" pitchFamily="2" charset="2"/>
              <a:buChar char="Ø"/>
            </a:pPr>
            <a:r>
              <a:rPr lang="en-US" b="0" i="0" dirty="0">
                <a:effectLst/>
                <a:latin typeface="-apple-system"/>
              </a:rPr>
              <a:t>In fact, some algorithms, such as Dijkstra's algorithm, can handle negative weights by using a priority queue or a heap to keep track of the nodes with the lowest distance from the source.</a:t>
            </a:r>
            <a:endParaRPr lang="en-IN" dirty="0"/>
          </a:p>
        </p:txBody>
      </p:sp>
    </p:spTree>
    <p:extLst>
      <p:ext uri="{BB962C8B-B14F-4D97-AF65-F5344CB8AC3E}">
        <p14:creationId xmlns:p14="http://schemas.microsoft.com/office/powerpoint/2010/main" val="3976064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9B019C8-2416-3BF3-1EA9-4C92D51A87A6}"/>
              </a:ext>
            </a:extLst>
          </p:cNvPr>
          <p:cNvSpPr>
            <a:spLocks noGrp="1"/>
          </p:cNvSpPr>
          <p:nvPr>
            <p:ph type="sldNum" sz="quarter" idx="11"/>
          </p:nvPr>
        </p:nvSpPr>
        <p:spPr/>
        <p:txBody>
          <a:bodyPr/>
          <a:lstStyle/>
          <a:p>
            <a:fld id="{8C2E478F-E849-4A8C-AF1F-CBCC78A7CBFA}" type="slidenum">
              <a:rPr lang="en-US" smtClean="0"/>
              <a:t>5</a:t>
            </a:fld>
            <a:endParaRPr lang="en-US" dirty="0"/>
          </a:p>
        </p:txBody>
      </p:sp>
      <p:sp>
        <p:nvSpPr>
          <p:cNvPr id="6" name="TextBox 5">
            <a:extLst>
              <a:ext uri="{FF2B5EF4-FFF2-40B4-BE49-F238E27FC236}">
                <a16:creationId xmlns:a16="http://schemas.microsoft.com/office/drawing/2014/main" id="{84B87AB2-B9E5-2554-26CF-5B24991CAAC0}"/>
              </a:ext>
            </a:extLst>
          </p:cNvPr>
          <p:cNvSpPr txBox="1"/>
          <p:nvPr/>
        </p:nvSpPr>
        <p:spPr>
          <a:xfrm>
            <a:off x="4086225" y="342900"/>
            <a:ext cx="3414140" cy="477054"/>
          </a:xfrm>
          <a:prstGeom prst="rect">
            <a:avLst/>
          </a:prstGeom>
          <a:noFill/>
        </p:spPr>
        <p:txBody>
          <a:bodyPr wrap="none" rtlCol="0">
            <a:spAutoFit/>
          </a:bodyPr>
          <a:lstStyle/>
          <a:p>
            <a:r>
              <a:rPr lang="en-IN" sz="2500" dirty="0"/>
              <a:t>Negative Weighted Cycle</a:t>
            </a:r>
          </a:p>
        </p:txBody>
      </p:sp>
      <p:sp>
        <p:nvSpPr>
          <p:cNvPr id="7" name="Flowchart: Alternate Process 6">
            <a:extLst>
              <a:ext uri="{FF2B5EF4-FFF2-40B4-BE49-F238E27FC236}">
                <a16:creationId xmlns:a16="http://schemas.microsoft.com/office/drawing/2014/main" id="{27E5AE7C-C679-8668-71B2-89BBCFC92684}"/>
              </a:ext>
            </a:extLst>
          </p:cNvPr>
          <p:cNvSpPr/>
          <p:nvPr/>
        </p:nvSpPr>
        <p:spPr>
          <a:xfrm>
            <a:off x="4086225" y="275103"/>
            <a:ext cx="3505200" cy="612648"/>
          </a:xfrm>
          <a:prstGeom prst="flowChartAlternateProcess">
            <a:avLst/>
          </a:prstGeom>
          <a:solidFill>
            <a:schemeClr val="accent1">
              <a:alpha val="32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2B90CAA-E7A4-3187-9DB2-304142E1825A}"/>
              </a:ext>
            </a:extLst>
          </p:cNvPr>
          <p:cNvSpPr txBox="1"/>
          <p:nvPr/>
        </p:nvSpPr>
        <p:spPr>
          <a:xfrm>
            <a:off x="957262" y="1143000"/>
            <a:ext cx="10277475" cy="3416320"/>
          </a:xfrm>
          <a:prstGeom prst="rect">
            <a:avLst/>
          </a:prstGeom>
          <a:noFill/>
        </p:spPr>
        <p:txBody>
          <a:bodyPr wrap="square" rtlCol="0">
            <a:spAutoFit/>
          </a:bodyPr>
          <a:lstStyle/>
          <a:p>
            <a:pPr marL="285750" indent="-285750">
              <a:buFont typeface="Wingdings" panose="05000000000000000000" pitchFamily="2" charset="2"/>
              <a:buChar char="Ø"/>
            </a:pPr>
            <a:r>
              <a:rPr lang="en-US" b="0" i="0" dirty="0">
                <a:effectLst/>
                <a:latin typeface="-apple-system"/>
              </a:rPr>
              <a:t>Negative cycles are loops in the graph that have a negative sum of weights, meaning that traversing the cycle reduces the total cost or distance.</a:t>
            </a:r>
          </a:p>
          <a:p>
            <a:endParaRPr lang="en-US" b="0" i="0" dirty="0">
              <a:effectLst/>
              <a:latin typeface="-apple-system"/>
            </a:endParaRPr>
          </a:p>
          <a:p>
            <a:pPr marL="285750" indent="-285750">
              <a:buFont typeface="Wingdings" panose="05000000000000000000" pitchFamily="2" charset="2"/>
              <a:buChar char="Ø"/>
            </a:pPr>
            <a:r>
              <a:rPr lang="en-US" b="0" i="0" dirty="0">
                <a:effectLst/>
                <a:latin typeface="-apple-system"/>
              </a:rPr>
              <a:t>For example, in a currency exchange graph, a negative cycle could indicate an arbitrage opportunity that allows you to make profit by repeating the cycle. </a:t>
            </a:r>
          </a:p>
          <a:p>
            <a:endParaRPr lang="en-US" b="0" i="0" dirty="0">
              <a:effectLst/>
              <a:latin typeface="-apple-system"/>
            </a:endParaRPr>
          </a:p>
          <a:p>
            <a:pPr marL="285750" indent="-285750">
              <a:buFont typeface="Wingdings" panose="05000000000000000000" pitchFamily="2" charset="2"/>
              <a:buChar char="Ø"/>
            </a:pPr>
            <a:r>
              <a:rPr lang="en-US" b="0" i="0" dirty="0">
                <a:effectLst/>
                <a:latin typeface="-apple-system"/>
              </a:rPr>
              <a:t> Negative cycles are problematic for graph algorithms, because they make the shortest path or the maximum flow undefined or infinite.</a:t>
            </a:r>
          </a:p>
          <a:p>
            <a:endParaRPr lang="en-US" b="0" i="0" dirty="0">
              <a:effectLst/>
              <a:latin typeface="-apple-system"/>
            </a:endParaRPr>
          </a:p>
          <a:p>
            <a:pPr marL="285750" indent="-285750">
              <a:buFont typeface="Wingdings" panose="05000000000000000000" pitchFamily="2" charset="2"/>
              <a:buChar char="Ø"/>
            </a:pPr>
            <a:r>
              <a:rPr lang="en-US" b="0" i="0" dirty="0">
                <a:effectLst/>
                <a:latin typeface="-apple-system"/>
              </a:rPr>
              <a:t>For example, if there is a negative cycle in the path from A to B, then you can always reduce the distance by going through the cycle one more time. Therefore, some algorithms, such as Dijkstra's algorithm, cannot handle negative cycles and may produce incorrect or inconsistent results.</a:t>
            </a:r>
            <a:endParaRPr lang="en-IN" dirty="0"/>
          </a:p>
        </p:txBody>
      </p:sp>
      <p:pic>
        <p:nvPicPr>
          <p:cNvPr id="9" name="Picture 8" descr="A diagram of a diagram&#10;&#10;Description automatically generated">
            <a:extLst>
              <a:ext uri="{FF2B5EF4-FFF2-40B4-BE49-F238E27FC236}">
                <a16:creationId xmlns:a16="http://schemas.microsoft.com/office/drawing/2014/main" id="{C71A42C0-817C-8E76-F4E5-0BBB3DDDECF5}"/>
              </a:ext>
            </a:extLst>
          </p:cNvPr>
          <p:cNvPicPr>
            <a:picLocks noChangeAspect="1"/>
          </p:cNvPicPr>
          <p:nvPr/>
        </p:nvPicPr>
        <p:blipFill rotWithShape="1">
          <a:blip r:embed="rId2"/>
          <a:srcRect b="13081"/>
          <a:stretch/>
        </p:blipFill>
        <p:spPr>
          <a:xfrm>
            <a:off x="1162868" y="4570988"/>
            <a:ext cx="4366638" cy="2079877"/>
          </a:xfrm>
          <a:prstGeom prst="rect">
            <a:avLst/>
          </a:prstGeom>
          <a:pattFill prst="pct20">
            <a:fgClr>
              <a:schemeClr val="accent5">
                <a:lumMod val="25000"/>
                <a:lumOff val="75000"/>
              </a:schemeClr>
            </a:fgClr>
            <a:bgClr>
              <a:schemeClr val="bg1"/>
            </a:bgClr>
          </a:pattFill>
        </p:spPr>
      </p:pic>
    </p:spTree>
    <p:extLst>
      <p:ext uri="{BB962C8B-B14F-4D97-AF65-F5344CB8AC3E}">
        <p14:creationId xmlns:p14="http://schemas.microsoft.com/office/powerpoint/2010/main" val="2765332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31B3141-D345-A50B-8B1A-39B05E4C1245}"/>
              </a:ext>
            </a:extLst>
          </p:cNvPr>
          <p:cNvSpPr>
            <a:spLocks noGrp="1"/>
          </p:cNvSpPr>
          <p:nvPr>
            <p:ph type="sldNum" sz="quarter" idx="11"/>
          </p:nvPr>
        </p:nvSpPr>
        <p:spPr/>
        <p:txBody>
          <a:bodyPr/>
          <a:lstStyle/>
          <a:p>
            <a:fld id="{8C2E478F-E849-4A8C-AF1F-CBCC78A7CBFA}" type="slidenum">
              <a:rPr lang="en-US" smtClean="0"/>
              <a:t>6</a:t>
            </a:fld>
            <a:endParaRPr lang="en-US" dirty="0"/>
          </a:p>
        </p:txBody>
      </p:sp>
      <p:sp>
        <p:nvSpPr>
          <p:cNvPr id="4" name="TextBox 3">
            <a:extLst>
              <a:ext uri="{FF2B5EF4-FFF2-40B4-BE49-F238E27FC236}">
                <a16:creationId xmlns:a16="http://schemas.microsoft.com/office/drawing/2014/main" id="{B05C62FC-AF54-39D1-06C1-A69BDB5098EE}"/>
              </a:ext>
            </a:extLst>
          </p:cNvPr>
          <p:cNvSpPr txBox="1"/>
          <p:nvPr/>
        </p:nvSpPr>
        <p:spPr>
          <a:xfrm>
            <a:off x="606491" y="335902"/>
            <a:ext cx="4675575" cy="477054"/>
          </a:xfrm>
          <a:prstGeom prst="rect">
            <a:avLst/>
          </a:prstGeom>
          <a:noFill/>
        </p:spPr>
        <p:txBody>
          <a:bodyPr wrap="none" rtlCol="0">
            <a:spAutoFit/>
          </a:bodyPr>
          <a:lstStyle/>
          <a:p>
            <a:r>
              <a:rPr lang="en-IN" sz="2500" dirty="0"/>
              <a:t>Detecting A Negative Weight Cycle</a:t>
            </a:r>
          </a:p>
        </p:txBody>
      </p:sp>
      <p:sp>
        <p:nvSpPr>
          <p:cNvPr id="5" name="Flowchart: Terminator 4">
            <a:extLst>
              <a:ext uri="{FF2B5EF4-FFF2-40B4-BE49-F238E27FC236}">
                <a16:creationId xmlns:a16="http://schemas.microsoft.com/office/drawing/2014/main" id="{060C80B0-C24B-8F4F-332C-5C7295D5CD19}"/>
              </a:ext>
            </a:extLst>
          </p:cNvPr>
          <p:cNvSpPr/>
          <p:nvPr/>
        </p:nvSpPr>
        <p:spPr>
          <a:xfrm>
            <a:off x="606491" y="154551"/>
            <a:ext cx="4768882" cy="839755"/>
          </a:xfrm>
          <a:prstGeom prst="flowChartTerminator">
            <a:avLst/>
          </a:prstGeom>
          <a:solidFill>
            <a:schemeClr val="accent1">
              <a:alpha val="2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0929F7E-8B28-F666-F70A-EDA383B52DD5}"/>
              </a:ext>
            </a:extLst>
          </p:cNvPr>
          <p:cNvSpPr txBox="1"/>
          <p:nvPr/>
        </p:nvSpPr>
        <p:spPr>
          <a:xfrm>
            <a:off x="110392" y="1672655"/>
            <a:ext cx="6334125" cy="2585323"/>
          </a:xfrm>
          <a:prstGeom prst="rect">
            <a:avLst/>
          </a:prstGeom>
          <a:noFill/>
        </p:spPr>
        <p:txBody>
          <a:bodyPr wrap="square" rtlCol="0">
            <a:spAutoFit/>
          </a:bodyPr>
          <a:lstStyle/>
          <a:p>
            <a:pPr marL="285750" indent="-285750">
              <a:buFont typeface="Wingdings" panose="05000000000000000000" pitchFamily="2" charset="2"/>
              <a:buChar char="Ø"/>
            </a:pPr>
            <a:r>
              <a:rPr lang="en-US" b="0" i="0" dirty="0">
                <a:effectLst/>
                <a:latin typeface="-apple-system"/>
              </a:rPr>
              <a:t>One way to handle negative cycles is to detect them and report them as an error or a special case.</a:t>
            </a:r>
          </a:p>
          <a:p>
            <a:endParaRPr lang="en-US" b="0" i="0" dirty="0">
              <a:effectLst/>
              <a:latin typeface="-apple-system"/>
            </a:endParaRPr>
          </a:p>
          <a:p>
            <a:pPr marL="285750" indent="-285750">
              <a:buFont typeface="Wingdings" panose="05000000000000000000" pitchFamily="2" charset="2"/>
              <a:buChar char="Ø"/>
            </a:pPr>
            <a:r>
              <a:rPr lang="en-US" b="0" i="0" dirty="0">
                <a:effectLst/>
                <a:latin typeface="-apple-system"/>
              </a:rPr>
              <a:t> For example, if you are using Bellman-Ford algorithm to find the shortest path from a single source to all other nodes, you can detect a negative cycle by running one more iteration after n-1 iterations, where n is the number of nodes in the graph. If any distance value changes in the last iteration, then there is a negative cycle in the graph.</a:t>
            </a:r>
            <a:endParaRPr lang="en-IN" dirty="0"/>
          </a:p>
        </p:txBody>
      </p:sp>
      <p:sp>
        <p:nvSpPr>
          <p:cNvPr id="2" name="TextBox 1">
            <a:extLst>
              <a:ext uri="{FF2B5EF4-FFF2-40B4-BE49-F238E27FC236}">
                <a16:creationId xmlns:a16="http://schemas.microsoft.com/office/drawing/2014/main" id="{DEC19AFE-BE06-F163-0D28-BB233A559D59}"/>
              </a:ext>
            </a:extLst>
          </p:cNvPr>
          <p:cNvSpPr txBox="1"/>
          <p:nvPr/>
        </p:nvSpPr>
        <p:spPr>
          <a:xfrm>
            <a:off x="7380514" y="335902"/>
            <a:ext cx="3126497" cy="477054"/>
          </a:xfrm>
          <a:prstGeom prst="rect">
            <a:avLst/>
          </a:prstGeom>
          <a:noFill/>
        </p:spPr>
        <p:txBody>
          <a:bodyPr wrap="none" rtlCol="0">
            <a:spAutoFit/>
          </a:bodyPr>
          <a:lstStyle/>
          <a:p>
            <a:r>
              <a:rPr lang="en-IN" sz="2500" dirty="0"/>
              <a:t>Principle Of Relaxation</a:t>
            </a:r>
          </a:p>
        </p:txBody>
      </p:sp>
      <p:sp>
        <p:nvSpPr>
          <p:cNvPr id="8" name="Flowchart: Terminator 7">
            <a:extLst>
              <a:ext uri="{FF2B5EF4-FFF2-40B4-BE49-F238E27FC236}">
                <a16:creationId xmlns:a16="http://schemas.microsoft.com/office/drawing/2014/main" id="{F605A3E7-F7C9-7CAC-AA6A-E10485F87C76}"/>
              </a:ext>
            </a:extLst>
          </p:cNvPr>
          <p:cNvSpPr/>
          <p:nvPr/>
        </p:nvSpPr>
        <p:spPr>
          <a:xfrm>
            <a:off x="7287207" y="154551"/>
            <a:ext cx="3219804" cy="839755"/>
          </a:xfrm>
          <a:prstGeom prst="flowChartTerminator">
            <a:avLst/>
          </a:prstGeom>
          <a:solidFill>
            <a:schemeClr val="accent1">
              <a:alpha val="2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47DB2B07-E925-8BC2-32FD-DE1E050B5979}"/>
              </a:ext>
            </a:extLst>
          </p:cNvPr>
          <p:cNvSpPr txBox="1"/>
          <p:nvPr/>
        </p:nvSpPr>
        <p:spPr>
          <a:xfrm>
            <a:off x="6792687" y="1672655"/>
            <a:ext cx="5200530" cy="3693319"/>
          </a:xfrm>
          <a:prstGeom prst="rect">
            <a:avLst/>
          </a:prstGeom>
          <a:noFill/>
        </p:spPr>
        <p:txBody>
          <a:bodyPr wrap="square" rtlCol="0">
            <a:spAutoFit/>
          </a:bodyPr>
          <a:lstStyle/>
          <a:p>
            <a:pPr marL="285750" indent="-285750" algn="l" fontAlgn="base">
              <a:buFont typeface="Wingdings" panose="05000000000000000000" pitchFamily="2" charset="2"/>
              <a:buChar char="Ø"/>
            </a:pPr>
            <a:r>
              <a:rPr lang="en-US" b="0" i="0" dirty="0">
                <a:effectLst/>
              </a:rPr>
              <a:t>It states that for the graph having </a:t>
            </a:r>
            <a:r>
              <a:rPr lang="en-US" b="1" i="0" dirty="0">
                <a:effectLst/>
              </a:rPr>
              <a:t>N</a:t>
            </a:r>
            <a:r>
              <a:rPr lang="en-US" b="0" i="0" dirty="0">
                <a:effectLst/>
              </a:rPr>
              <a:t> vertices, all the edges should be relaxed </a:t>
            </a:r>
            <a:r>
              <a:rPr lang="en-US" b="1" i="0" dirty="0">
                <a:effectLst/>
              </a:rPr>
              <a:t>N-1 </a:t>
            </a:r>
            <a:r>
              <a:rPr lang="en-US" b="0" i="0" dirty="0">
                <a:effectLst/>
              </a:rPr>
              <a:t>times to compute the single source shortest path.</a:t>
            </a:r>
          </a:p>
          <a:p>
            <a:pPr algn="l" fontAlgn="base"/>
            <a:endParaRPr lang="en-US" b="0" i="0" dirty="0">
              <a:effectLst/>
            </a:endParaRPr>
          </a:p>
          <a:p>
            <a:pPr marL="285750" indent="-285750" fontAlgn="base">
              <a:buFont typeface="Wingdings" panose="05000000000000000000" pitchFamily="2" charset="2"/>
              <a:buChar char="Ø"/>
            </a:pPr>
            <a:r>
              <a:rPr lang="en-US" b="0" i="0" dirty="0">
                <a:effectLst/>
              </a:rPr>
              <a:t>In order to detect whether a negative cycle exists or not, relax all the edge one more time and if the shortest distance for any node reduces then we can say that a negative cycle exists. In short if we relax the edges </a:t>
            </a:r>
            <a:r>
              <a:rPr lang="en-US" b="1" i="0" dirty="0">
                <a:effectLst/>
              </a:rPr>
              <a:t>N</a:t>
            </a:r>
            <a:r>
              <a:rPr lang="en-US" b="0" i="0" dirty="0">
                <a:effectLst/>
              </a:rPr>
              <a:t> times, and there is any change in the shortest distance of any node between the </a:t>
            </a:r>
            <a:r>
              <a:rPr lang="en-US" b="1" i="0" dirty="0">
                <a:effectLst/>
              </a:rPr>
              <a:t>N-1th</a:t>
            </a:r>
            <a:r>
              <a:rPr lang="en-US" b="0" i="0" dirty="0">
                <a:effectLst/>
              </a:rPr>
              <a:t> and </a:t>
            </a:r>
            <a:r>
              <a:rPr lang="en-US" b="1" i="0" dirty="0">
                <a:effectLst/>
              </a:rPr>
              <a:t>Nth</a:t>
            </a:r>
            <a:r>
              <a:rPr lang="en-US" b="0" i="0" dirty="0">
                <a:effectLst/>
              </a:rPr>
              <a:t> relaxation than a negative cycle exists, otherwise not exist.</a:t>
            </a:r>
          </a:p>
          <a:p>
            <a:pPr marL="285750" indent="-285750" algn="l" fontAlgn="base">
              <a:buFont typeface="Wingdings" panose="05000000000000000000" pitchFamily="2" charset="2"/>
              <a:buChar char="Ø"/>
            </a:pPr>
            <a:endParaRPr lang="en-US" b="0" i="0" dirty="0">
              <a:effectLst/>
              <a:latin typeface="Nunito" pitchFamily="2" charset="0"/>
            </a:endParaRPr>
          </a:p>
        </p:txBody>
      </p:sp>
    </p:spTree>
    <p:extLst>
      <p:ext uri="{BB962C8B-B14F-4D97-AF65-F5344CB8AC3E}">
        <p14:creationId xmlns:p14="http://schemas.microsoft.com/office/powerpoint/2010/main" val="139195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A5C12-E784-444E-B868-DE2AE85742BB}"/>
              </a:ext>
            </a:extLst>
          </p:cNvPr>
          <p:cNvSpPr>
            <a:spLocks noGrp="1"/>
          </p:cNvSpPr>
          <p:nvPr>
            <p:ph type="sldNum" sz="quarter" idx="12"/>
          </p:nvPr>
        </p:nvSpPr>
        <p:spPr/>
        <p:txBody>
          <a:bodyPr/>
          <a:lstStyle/>
          <a:p>
            <a:fld id="{8C2E478F-E849-4A8C-AF1F-CBCC78A7CBFA}" type="slidenum">
              <a:rPr lang="en-US" smtClean="0"/>
              <a:t>7</a:t>
            </a:fld>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165E3FF-4323-8BB3-ECB7-B66A96D126F8}"/>
                  </a:ext>
                </a:extLst>
              </p:cNvPr>
              <p:cNvSpPr txBox="1"/>
              <p:nvPr/>
            </p:nvSpPr>
            <p:spPr>
              <a:xfrm>
                <a:off x="307309" y="821505"/>
                <a:ext cx="5107290" cy="1754326"/>
              </a:xfrm>
              <a:prstGeom prst="rect">
                <a:avLst/>
              </a:prstGeom>
              <a:noFill/>
            </p:spPr>
            <p:txBody>
              <a:bodyPr wrap="square" rtlCol="0">
                <a:spAutoFit/>
              </a:bodyPr>
              <a:lstStyle/>
              <a:p>
                <a:pPr marL="285750" indent="-285750" algn="l">
                  <a:buFont typeface="Wingdings" panose="05000000000000000000" pitchFamily="2" charset="2"/>
                  <a:buChar char="Ø"/>
                </a:pPr>
                <a:r>
                  <a:rPr lang="en-US" sz="1800" b="0" i="0" u="none" strike="noStrike" baseline="0" dirty="0">
                    <a:latin typeface="Times-Roman"/>
                  </a:rPr>
                  <a:t> For each vertex</a:t>
                </a:r>
                <a:r>
                  <a:rPr lang="en-US" sz="1800" b="0" i="0" u="none" strike="noStrike" baseline="0" dirty="0">
                    <a:latin typeface="MT2MIT"/>
                  </a:rPr>
                  <a:t> </a:t>
                </a:r>
                <a:r>
                  <a:rPr lang="en-US" dirty="0">
                    <a:latin typeface="MT2SYT"/>
                  </a:rPr>
                  <a:t>v</a:t>
                </a:r>
                <a14:m>
                  <m:oMath xmlns:m="http://schemas.openxmlformats.org/officeDocument/2006/math">
                    <m:r>
                      <a:rPr lang="en-IN" sz="1400" b="0" i="0" u="none" strike="noStrike" baseline="0" smtClean="0">
                        <a:latin typeface="Cambria Math" panose="02040503050406030204" pitchFamily="18" charset="0"/>
                      </a:rPr>
                      <m:t> </m:t>
                    </m:r>
                    <m:r>
                      <a:rPr lang="en-US" sz="1400" b="0" i="0" u="none" strike="noStrike" baseline="0" smtClean="0">
                        <a:latin typeface="Cambria Math" panose="02040503050406030204" pitchFamily="18" charset="0"/>
                      </a:rPr>
                      <m:t>∈</m:t>
                    </m:r>
                  </m:oMath>
                </a14:m>
                <a:r>
                  <a:rPr lang="en-US" sz="1800" b="0" i="0" u="none" strike="noStrike" baseline="0" dirty="0">
                    <a:latin typeface="MT2SYT"/>
                  </a:rPr>
                  <a:t> </a:t>
                </a:r>
                <a:r>
                  <a:rPr lang="en-US" sz="1800" b="0" i="0" u="none" strike="noStrike" baseline="0" dirty="0">
                    <a:latin typeface="MT2MIT"/>
                  </a:rPr>
                  <a:t>V </a:t>
                </a:r>
                <a:r>
                  <a:rPr lang="en-US" sz="1800" b="0" i="0" u="none" strike="noStrike" baseline="0" dirty="0">
                    <a:latin typeface="Times-Roman"/>
                  </a:rPr>
                  <a:t>, we maintain an attribute </a:t>
                </a:r>
                <a:r>
                  <a:rPr lang="en-US" dirty="0">
                    <a:latin typeface="MT2MIT"/>
                  </a:rPr>
                  <a:t> v.</a:t>
                </a:r>
                <a:r>
                  <a:rPr lang="en-US" sz="1800" b="0" i="1" u="none" strike="noStrike" baseline="0" dirty="0">
                    <a:latin typeface="Times-Italic"/>
                  </a:rPr>
                  <a:t>d</a:t>
                </a:r>
                <a:r>
                  <a:rPr lang="en-US" sz="1800" b="0" i="0" u="none" strike="noStrike" baseline="0" dirty="0">
                    <a:latin typeface="Times-Roman"/>
                  </a:rPr>
                  <a:t>, which is an upper bound on the weight of</a:t>
                </a:r>
                <a:r>
                  <a:rPr lang="en-US" sz="1800" b="0" i="0" u="none" strike="noStrike" dirty="0">
                    <a:latin typeface="Times-Roman"/>
                  </a:rPr>
                  <a:t> </a:t>
                </a:r>
                <a:r>
                  <a:rPr lang="en-US" sz="1800" b="0" i="0" u="none" strike="noStrike" baseline="0" dirty="0">
                    <a:latin typeface="Times-Roman"/>
                  </a:rPr>
                  <a:t>a shortest path from source </a:t>
                </a:r>
                <a:r>
                  <a:rPr lang="en-US" sz="1800" b="0" i="0" u="none" strike="noStrike" baseline="0" dirty="0">
                    <a:latin typeface="MT2MIT"/>
                  </a:rPr>
                  <a:t>s </a:t>
                </a:r>
                <a:r>
                  <a:rPr lang="en-US" sz="1800" b="0" i="0" u="none" strike="noStrike" baseline="0" dirty="0">
                    <a:latin typeface="Times-Roman"/>
                  </a:rPr>
                  <a:t>to v . We call </a:t>
                </a:r>
                <a:r>
                  <a:rPr lang="en-US" dirty="0">
                    <a:latin typeface="MT2MIT"/>
                  </a:rPr>
                  <a:t>v.</a:t>
                </a:r>
                <a:r>
                  <a:rPr lang="en-US" sz="1800" b="0" i="1" u="none" strike="noStrike" baseline="0" dirty="0">
                    <a:latin typeface="Times-Italic"/>
                  </a:rPr>
                  <a:t>d </a:t>
                </a:r>
                <a:r>
                  <a:rPr lang="en-US" sz="1800" b="0" i="0" u="none" strike="noStrike" baseline="0" dirty="0">
                    <a:latin typeface="Times-Roman"/>
                  </a:rPr>
                  <a:t>a </a:t>
                </a:r>
                <a:r>
                  <a:rPr lang="en-US" sz="1800" b="1" i="1" u="none" strike="noStrike" baseline="0" dirty="0">
                    <a:latin typeface="Times-BoldItalic"/>
                  </a:rPr>
                  <a:t>shortest-path estimate</a:t>
                </a:r>
                <a:r>
                  <a:rPr lang="en-US" sz="1800" b="0" i="0" u="none" strike="noStrike" baseline="0" dirty="0">
                    <a:latin typeface="Times-Roman"/>
                  </a:rPr>
                  <a:t>. We initialize the shortest-path estimates and predecessors by the following</a:t>
                </a:r>
                <a14:m>
                  <m:oMath xmlns:m="http://schemas.openxmlformats.org/officeDocument/2006/math">
                    <m:r>
                      <a:rPr lang="en-IN" sz="1800" b="0" i="0" u="none" strike="noStrike" baseline="0" dirty="0" smtClean="0">
                        <a:latin typeface="Cambria Math" panose="02040503050406030204" pitchFamily="18" charset="0"/>
                      </a:rPr>
                      <m:t> </m:t>
                    </m:r>
                    <m:r>
                      <a:rPr lang="en-US" sz="1800" b="0" i="0" u="none" strike="noStrike" baseline="0" dirty="0" smtClean="0">
                        <a:latin typeface="Cambria Math" panose="02040503050406030204" pitchFamily="18" charset="0"/>
                      </a:rPr>
                      <m:t>𝜃</m:t>
                    </m:r>
                    <m:r>
                      <a:rPr lang="en-IN" sz="1800" b="0" i="0" u="none" strike="noStrike" baseline="0" dirty="0" smtClean="0">
                        <a:latin typeface="Cambria Math" panose="02040503050406030204" pitchFamily="18" charset="0"/>
                      </a:rPr>
                      <m:t>(</m:t>
                    </m:r>
                    <m:r>
                      <m:rPr>
                        <m:sty m:val="p"/>
                      </m:rPr>
                      <a:rPr lang="en-IN" sz="1800" b="0" i="0" u="none" strike="noStrike" baseline="0" dirty="0" smtClean="0">
                        <a:latin typeface="Cambria Math" panose="02040503050406030204" pitchFamily="18" charset="0"/>
                      </a:rPr>
                      <m:t>V</m:t>
                    </m:r>
                    <m:r>
                      <a:rPr lang="en-IN" sz="1800" b="0" i="0" u="none" strike="noStrike" baseline="0" dirty="0" smtClean="0">
                        <a:latin typeface="Cambria Math" panose="02040503050406030204" pitchFamily="18" charset="0"/>
                      </a:rPr>
                      <m:t>)</m:t>
                    </m:r>
                  </m:oMath>
                </a14:m>
                <a:r>
                  <a:rPr lang="en-US" sz="1800" b="0" i="0" u="none" strike="noStrike" baseline="0" dirty="0">
                    <a:latin typeface="Times-Roman"/>
                  </a:rPr>
                  <a:t>-time </a:t>
                </a:r>
                <a:r>
                  <a:rPr lang="en-IN" sz="1800" b="0" i="0" u="none" strike="noStrike" baseline="0" dirty="0">
                    <a:latin typeface="Times-Roman"/>
                  </a:rPr>
                  <a:t>procedure</a:t>
                </a:r>
                <a:r>
                  <a:rPr lang="en-IN" dirty="0">
                    <a:latin typeface="Times-Roman"/>
                  </a:rPr>
                  <a:t>.</a:t>
                </a:r>
                <a:endParaRPr lang="en-IN" dirty="0">
                  <a:latin typeface="Aharoni" panose="02010803020104030203" pitchFamily="2" charset="-79"/>
                  <a:cs typeface="Aharoni" panose="02010803020104030203" pitchFamily="2" charset="-79"/>
                </a:endParaRPr>
              </a:p>
            </p:txBody>
          </p:sp>
        </mc:Choice>
        <mc:Fallback xmlns="">
          <p:sp>
            <p:nvSpPr>
              <p:cNvPr id="5" name="TextBox 4">
                <a:extLst>
                  <a:ext uri="{FF2B5EF4-FFF2-40B4-BE49-F238E27FC236}">
                    <a16:creationId xmlns:a16="http://schemas.microsoft.com/office/drawing/2014/main" id="{7165E3FF-4323-8BB3-ECB7-B66A96D126F8}"/>
                  </a:ext>
                </a:extLst>
              </p:cNvPr>
              <p:cNvSpPr txBox="1">
                <a:spLocks noRot="1" noChangeAspect="1" noMove="1" noResize="1" noEditPoints="1" noAdjustHandles="1" noChangeArrowheads="1" noChangeShapeType="1" noTextEdit="1"/>
              </p:cNvSpPr>
              <p:nvPr/>
            </p:nvSpPr>
            <p:spPr>
              <a:xfrm>
                <a:off x="307309" y="821505"/>
                <a:ext cx="5107290" cy="1754326"/>
              </a:xfrm>
              <a:prstGeom prst="rect">
                <a:avLst/>
              </a:prstGeom>
              <a:blipFill>
                <a:blip r:embed="rId2"/>
                <a:stretch>
                  <a:fillRect l="-716" t="-2431" b="-3819"/>
                </a:stretch>
              </a:blipFill>
            </p:spPr>
            <p:txBody>
              <a:bodyPr/>
              <a:lstStyle/>
              <a:p>
                <a:r>
                  <a:rPr lang="en-IN">
                    <a:noFill/>
                  </a:rPr>
                  <a:t> </a:t>
                </a:r>
              </a:p>
            </p:txBody>
          </p:sp>
        </mc:Fallback>
      </mc:AlternateContent>
      <p:pic>
        <p:nvPicPr>
          <p:cNvPr id="8" name="Picture 7" descr="A math equations on a white background&#10;&#10;Description automatically generated">
            <a:extLst>
              <a:ext uri="{FF2B5EF4-FFF2-40B4-BE49-F238E27FC236}">
                <a16:creationId xmlns:a16="http://schemas.microsoft.com/office/drawing/2014/main" id="{0D1CAC04-B407-B7DF-DADA-D0092F523C1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587493" y="2544920"/>
            <a:ext cx="3124471" cy="1280271"/>
          </a:xfrm>
          <a:prstGeom prst="rect">
            <a:avLst/>
          </a:prstGeom>
          <a:effectLst>
            <a:glow>
              <a:schemeClr val="bg1">
                <a:lumMod val="95000"/>
                <a:alpha val="54000"/>
              </a:schemeClr>
            </a:glow>
          </a:effec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B631C8A-A68B-2577-31AF-B27D024FFCF1}"/>
                  </a:ext>
                </a:extLst>
              </p:cNvPr>
              <p:cNvSpPr txBox="1"/>
              <p:nvPr/>
            </p:nvSpPr>
            <p:spPr>
              <a:xfrm>
                <a:off x="369178" y="3878423"/>
                <a:ext cx="5107290" cy="646331"/>
              </a:xfrm>
              <a:prstGeom prst="rect">
                <a:avLst/>
              </a:prstGeom>
              <a:noFill/>
            </p:spPr>
            <p:txBody>
              <a:bodyPr wrap="square" rtlCol="0">
                <a:spAutoFit/>
              </a:bodyPr>
              <a:lstStyle/>
              <a:p>
                <a:pPr marL="285750" indent="-285750">
                  <a:buFont typeface="Wingdings" panose="05000000000000000000" pitchFamily="2" charset="2"/>
                  <a:buChar char="Ø"/>
                </a:pPr>
                <a:r>
                  <a:rPr lang="en-US" sz="1800" b="0" i="0" u="none" strike="noStrike" baseline="0" dirty="0">
                    <a:latin typeface="Times-Roman"/>
                  </a:rPr>
                  <a:t>After initialization, we have </a:t>
                </a:r>
                <a:r>
                  <a:rPr lang="en-US" sz="1800" b="0" i="0" u="none" strike="noStrike" baseline="0" dirty="0">
                    <a:latin typeface="MT2MIT"/>
                  </a:rPr>
                  <a:t> v.</a:t>
                </a:r>
                <a:r>
                  <a:rPr lang="el-GR" dirty="0">
                    <a:latin typeface="Cambria Math" panose="02040503050406030204" pitchFamily="18" charset="0"/>
                    <a:ea typeface="Cambria Math" panose="02040503050406030204" pitchFamily="18" charset="0"/>
                  </a:rPr>
                  <a:t>π</a:t>
                </a:r>
                <a:r>
                  <a:rPr lang="en-IN" dirty="0">
                    <a:ea typeface="Cambria Math" panose="02040503050406030204" pitchFamily="18" charset="0"/>
                  </a:rPr>
                  <a:t>=</a:t>
                </a:r>
                <a:r>
                  <a:rPr lang="en-US" sz="1800" b="0" i="0" u="none" strike="noStrike" baseline="0" dirty="0">
                    <a:latin typeface="MT2SYT"/>
                  </a:rPr>
                  <a:t> </a:t>
                </a:r>
                <a:r>
                  <a:rPr lang="en-US" sz="1800" b="0" i="0" u="none" strike="noStrike" baseline="0" dirty="0">
                    <a:latin typeface="Times-Roman"/>
                  </a:rPr>
                  <a:t>NIL for all </a:t>
                </a:r>
                <a:r>
                  <a:rPr lang="en-US" sz="1800" b="0" i="0" u="none" strike="noStrike" baseline="0" dirty="0">
                    <a:latin typeface="MT2MIT"/>
                  </a:rPr>
                  <a:t> </a:t>
                </a:r>
                <a:r>
                  <a:rPr lang="en-US" dirty="0">
                    <a:latin typeface="MT2SYT"/>
                  </a:rPr>
                  <a:t>v</a:t>
                </a:r>
                <a14:m>
                  <m:oMath xmlns:m="http://schemas.openxmlformats.org/officeDocument/2006/math">
                    <m:r>
                      <a:rPr lang="en-US" i="1" smtClean="0">
                        <a:latin typeface="Cambria Math" panose="02040503050406030204" pitchFamily="18" charset="0"/>
                        <a:ea typeface="Cambria Math" panose="02040503050406030204" pitchFamily="18" charset="0"/>
                      </a:rPr>
                      <m:t>𝜖</m:t>
                    </m:r>
                  </m:oMath>
                </a14:m>
                <a:r>
                  <a:rPr lang="en-US" sz="1800" b="0" i="0" u="none" strike="noStrike" baseline="0" dirty="0">
                    <a:latin typeface="MT2MIT"/>
                  </a:rPr>
                  <a:t>V </a:t>
                </a:r>
                <a:r>
                  <a:rPr lang="en-US" sz="1800" b="0" i="0" u="none" strike="noStrike" baseline="0" dirty="0">
                    <a:latin typeface="Times-Roman"/>
                  </a:rPr>
                  <a:t>,</a:t>
                </a:r>
                <a:r>
                  <a:rPr lang="en-US" sz="1800" b="0" i="0" u="none" strike="noStrike" dirty="0">
                    <a:latin typeface="Times-Roman"/>
                  </a:rPr>
                  <a:t> </a:t>
                </a:r>
                <a:r>
                  <a:rPr lang="en-US" sz="1800" b="0" i="0" u="none" strike="noStrike" baseline="0" dirty="0" err="1">
                    <a:latin typeface="MT2MIT"/>
                  </a:rPr>
                  <a:t>s</a:t>
                </a:r>
                <a:r>
                  <a:rPr lang="en-US" dirty="0" err="1">
                    <a:latin typeface="MT2MIT"/>
                  </a:rPr>
                  <a:t>.</a:t>
                </a:r>
                <a:r>
                  <a:rPr lang="en-US" sz="1800" b="0" i="1" u="none" strike="noStrike" baseline="0" dirty="0" err="1">
                    <a:latin typeface="Times-Italic"/>
                  </a:rPr>
                  <a:t>d</a:t>
                </a:r>
                <a:r>
                  <a:rPr lang="en-US" sz="1800" b="0" i="1" u="none" strike="noStrike" baseline="0" dirty="0">
                    <a:latin typeface="Times-Italic"/>
                  </a:rPr>
                  <a:t> </a:t>
                </a:r>
                <a:r>
                  <a:rPr lang="en-US" dirty="0">
                    <a:latin typeface="MT2SYT"/>
                  </a:rPr>
                  <a:t>=0</a:t>
                </a:r>
                <a:r>
                  <a:rPr lang="en-US" sz="1800" b="0" i="0" u="none" strike="noStrike" baseline="0" dirty="0">
                    <a:latin typeface="Times-Roman"/>
                  </a:rPr>
                  <a:t>, and </a:t>
                </a:r>
                <a:r>
                  <a:rPr lang="en-US" dirty="0" err="1">
                    <a:latin typeface="MT2MIT"/>
                  </a:rPr>
                  <a:t>v.</a:t>
                </a:r>
                <a:r>
                  <a:rPr lang="en-US" sz="1800" b="0" i="1" u="none" strike="noStrike" baseline="0" dirty="0" err="1">
                    <a:latin typeface="Times-Italic"/>
                  </a:rPr>
                  <a:t>d</a:t>
                </a:r>
                <a:r>
                  <a:rPr lang="en-US" sz="1800" b="0" i="1" u="none" strike="noStrike" baseline="0" dirty="0">
                    <a:latin typeface="Times-Italic"/>
                  </a:rPr>
                  <a:t>= </a:t>
                </a:r>
                <a14:m>
                  <m:oMath xmlns:m="http://schemas.openxmlformats.org/officeDocument/2006/math">
                    <m:r>
                      <a:rPr lang="en-US" sz="1800" b="0" i="1" u="none" strike="noStrike" baseline="0" smtClean="0">
                        <a:latin typeface="Cambria Math" panose="02040503050406030204" pitchFamily="18" charset="0"/>
                      </a:rPr>
                      <m:t>∞</m:t>
                    </m:r>
                  </m:oMath>
                </a14:m>
                <a:r>
                  <a:rPr lang="en-US" sz="1800" b="0" i="0" u="none" strike="noStrike" baseline="0" dirty="0">
                    <a:latin typeface="Times-Roman"/>
                  </a:rPr>
                  <a:t> for all</a:t>
                </a:r>
                <a:r>
                  <a:rPr lang="en-IN" sz="1800" b="0" i="0" u="none" strike="noStrike" baseline="0" dirty="0">
                    <a:latin typeface="MT2MIT"/>
                  </a:rPr>
                  <a:t> </a:t>
                </a:r>
                <a:r>
                  <a:rPr lang="en-IN" dirty="0">
                    <a:latin typeface="MT2SYT"/>
                  </a:rPr>
                  <a:t>v</a:t>
                </a:r>
                <a14:m>
                  <m:oMath xmlns:m="http://schemas.openxmlformats.org/officeDocument/2006/math">
                    <m:r>
                      <a:rPr lang="en-IN" i="1" smtClean="0">
                        <a:latin typeface="Cambria Math" panose="02040503050406030204" pitchFamily="18" charset="0"/>
                        <a:ea typeface="Cambria Math" panose="02040503050406030204" pitchFamily="18" charset="0"/>
                      </a:rPr>
                      <m:t>𝜖</m:t>
                    </m:r>
                  </m:oMath>
                </a14:m>
                <a:r>
                  <a:rPr lang="en-IN" sz="1800" b="0" i="0" u="none" strike="noStrike" baseline="0" dirty="0">
                    <a:latin typeface="MT2MIT"/>
                  </a:rPr>
                  <a:t>V </a:t>
                </a:r>
                <a:r>
                  <a:rPr lang="en-IN" dirty="0">
                    <a:latin typeface="MT2SYT"/>
                  </a:rPr>
                  <a:t>–{s}.</a:t>
                </a:r>
                <a:endParaRPr lang="en-IN" dirty="0"/>
              </a:p>
            </p:txBody>
          </p:sp>
        </mc:Choice>
        <mc:Fallback xmlns="">
          <p:sp>
            <p:nvSpPr>
              <p:cNvPr id="4" name="TextBox 3">
                <a:extLst>
                  <a:ext uri="{FF2B5EF4-FFF2-40B4-BE49-F238E27FC236}">
                    <a16:creationId xmlns:a16="http://schemas.microsoft.com/office/drawing/2014/main" id="{0B631C8A-A68B-2577-31AF-B27D024FFCF1}"/>
                  </a:ext>
                </a:extLst>
              </p:cNvPr>
              <p:cNvSpPr txBox="1">
                <a:spLocks noRot="1" noChangeAspect="1" noMove="1" noResize="1" noEditPoints="1" noAdjustHandles="1" noChangeArrowheads="1" noChangeShapeType="1" noTextEdit="1"/>
              </p:cNvSpPr>
              <p:nvPr/>
            </p:nvSpPr>
            <p:spPr>
              <a:xfrm>
                <a:off x="369178" y="3878423"/>
                <a:ext cx="5107290" cy="646331"/>
              </a:xfrm>
              <a:prstGeom prst="rect">
                <a:avLst/>
              </a:prstGeom>
              <a:blipFill>
                <a:blip r:embed="rId5"/>
                <a:stretch>
                  <a:fillRect l="-836" t="-6604" r="-597" b="-1415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002D8D2-1F24-1A11-8525-9CDC17FE4640}"/>
                  </a:ext>
                </a:extLst>
              </p:cNvPr>
              <p:cNvSpPr txBox="1"/>
              <p:nvPr/>
            </p:nvSpPr>
            <p:spPr>
              <a:xfrm>
                <a:off x="369178" y="4632294"/>
                <a:ext cx="4941143" cy="1200329"/>
              </a:xfrm>
              <a:prstGeom prst="rect">
                <a:avLst/>
              </a:prstGeom>
              <a:noFill/>
            </p:spPr>
            <p:txBody>
              <a:bodyPr wrap="square" rtlCol="0">
                <a:spAutoFit/>
              </a:bodyPr>
              <a:lstStyle/>
              <a:p>
                <a:pPr marL="285750" indent="-285750" algn="l">
                  <a:buFont typeface="Wingdings" panose="05000000000000000000" pitchFamily="2" charset="2"/>
                  <a:buChar char="Ø"/>
                </a:pPr>
                <a:r>
                  <a:rPr lang="en-US" sz="1800" b="0" i="0" u="none" strike="noStrike" baseline="0" dirty="0">
                    <a:latin typeface="Times-Roman"/>
                  </a:rPr>
                  <a:t>The process of </a:t>
                </a:r>
                <a:r>
                  <a:rPr lang="en-US" sz="1800" b="1" i="1" u="none" strike="noStrike" baseline="0" dirty="0">
                    <a:latin typeface="Times-BoldItalic"/>
                  </a:rPr>
                  <a:t>relaxing </a:t>
                </a:r>
                <a:r>
                  <a:rPr lang="en-US" sz="1800" b="0" i="0" u="none" strike="noStrike" baseline="0" dirty="0">
                    <a:latin typeface="Times-Roman"/>
                  </a:rPr>
                  <a:t>an edge(</a:t>
                </a:r>
                <a:r>
                  <a:rPr lang="en-US" sz="1800" b="0" i="0" u="none" strike="noStrike" baseline="0" dirty="0" err="1">
                    <a:latin typeface="Times-Roman"/>
                  </a:rPr>
                  <a:t>u,v</a:t>
                </a:r>
                <a:r>
                  <a:rPr lang="en-US" sz="1800" b="0" i="0" u="none" strike="noStrike" baseline="0" dirty="0">
                    <a:latin typeface="Times-Roman"/>
                  </a:rPr>
                  <a:t>)</a:t>
                </a:r>
                <a:r>
                  <a:rPr lang="en-US" sz="1800" b="0" i="0" u="none" strike="noStrike" baseline="0" dirty="0">
                    <a:latin typeface="MT2MIT"/>
                  </a:rPr>
                  <a:t> </a:t>
                </a:r>
                <a:r>
                  <a:rPr lang="en-US" sz="1800" b="0" i="0" u="none" strike="noStrike" baseline="0" dirty="0">
                    <a:latin typeface="Times-Roman"/>
                  </a:rPr>
                  <a:t>consists of testing whether we can improve the shortest path to v</a:t>
                </a:r>
                <a:r>
                  <a:rPr lang="en-US" sz="1800" b="0" i="0" u="none" strike="noStrike" baseline="0" dirty="0">
                    <a:latin typeface="MT2MIT"/>
                  </a:rPr>
                  <a:t> </a:t>
                </a:r>
                <a:r>
                  <a:rPr lang="en-US" sz="1800" b="0" i="0" u="none" strike="noStrike" baseline="0" dirty="0">
                    <a:latin typeface="Times-Roman"/>
                  </a:rPr>
                  <a:t>found so far by going through </a:t>
                </a:r>
                <a:r>
                  <a:rPr lang="en-US" sz="1800" b="0" i="0" u="none" strike="noStrike" baseline="0" dirty="0">
                    <a:latin typeface="MT2MIT"/>
                  </a:rPr>
                  <a:t>u </a:t>
                </a:r>
                <a:r>
                  <a:rPr lang="en-US" sz="1800" b="0" i="0" u="none" strike="noStrike" baseline="0" dirty="0">
                    <a:latin typeface="Times-Roman"/>
                  </a:rPr>
                  <a:t>and, if so, updating</a:t>
                </a:r>
                <a:r>
                  <a:rPr lang="en-IN" sz="1800" b="0" i="0" u="none" strike="noStrike" baseline="0" dirty="0">
                    <a:latin typeface="Times-Roman"/>
                  </a:rPr>
                  <a:t> </a:t>
                </a:r>
                <a:r>
                  <a:rPr lang="en-IN" sz="1800" b="0" i="0" u="none" strike="noStrike" baseline="0" dirty="0" err="1">
                    <a:latin typeface="Times-Roman"/>
                  </a:rPr>
                  <a:t>v.d</a:t>
                </a:r>
                <a:r>
                  <a:rPr lang="en-IN" sz="1800" b="0" i="0" u="none" strike="noStrike" baseline="0" dirty="0">
                    <a:latin typeface="Times-Roman"/>
                  </a:rPr>
                  <a:t> and v.</a:t>
                </a:r>
                <a14:m>
                  <m:oMath xmlns:m="http://schemas.openxmlformats.org/officeDocument/2006/math">
                    <m:r>
                      <a:rPr lang="en-IN" sz="1800" b="0" i="1" u="none" strike="noStrike" baseline="0" smtClean="0">
                        <a:latin typeface="Cambria Math" panose="02040503050406030204" pitchFamily="18" charset="0"/>
                        <a:ea typeface="Cambria Math" panose="02040503050406030204" pitchFamily="18" charset="0"/>
                      </a:rPr>
                      <m:t>𝜋</m:t>
                    </m:r>
                  </m:oMath>
                </a14:m>
                <a:r>
                  <a:rPr lang="en-US" sz="1800" b="0" i="0" u="none" strike="noStrike" baseline="0" dirty="0">
                    <a:latin typeface="Times-Roman"/>
                  </a:rPr>
                  <a:t>.</a:t>
                </a:r>
              </a:p>
            </p:txBody>
          </p:sp>
        </mc:Choice>
        <mc:Fallback xmlns="">
          <p:sp>
            <p:nvSpPr>
              <p:cNvPr id="10" name="TextBox 9">
                <a:extLst>
                  <a:ext uri="{FF2B5EF4-FFF2-40B4-BE49-F238E27FC236}">
                    <a16:creationId xmlns:a16="http://schemas.microsoft.com/office/drawing/2014/main" id="{F002D8D2-1F24-1A11-8525-9CDC17FE4640}"/>
                  </a:ext>
                </a:extLst>
              </p:cNvPr>
              <p:cNvSpPr txBox="1">
                <a:spLocks noRot="1" noChangeAspect="1" noMove="1" noResize="1" noEditPoints="1" noAdjustHandles="1" noChangeArrowheads="1" noChangeShapeType="1" noTextEdit="1"/>
              </p:cNvSpPr>
              <p:nvPr/>
            </p:nvSpPr>
            <p:spPr>
              <a:xfrm>
                <a:off x="369178" y="4632294"/>
                <a:ext cx="4941143" cy="1200329"/>
              </a:xfrm>
              <a:prstGeom prst="rect">
                <a:avLst/>
              </a:prstGeom>
              <a:blipFill>
                <a:blip r:embed="rId6"/>
                <a:stretch>
                  <a:fillRect l="-864" t="-3553" r="-1111" b="-710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698B6DD-36EF-3696-444F-3E13ED2F4D8E}"/>
                  </a:ext>
                </a:extLst>
              </p:cNvPr>
              <p:cNvSpPr txBox="1"/>
              <p:nvPr/>
            </p:nvSpPr>
            <p:spPr>
              <a:xfrm>
                <a:off x="5979053" y="855846"/>
                <a:ext cx="6014164" cy="1477328"/>
              </a:xfrm>
              <a:prstGeom prst="rect">
                <a:avLst/>
              </a:prstGeom>
              <a:noFill/>
            </p:spPr>
            <p:txBody>
              <a:bodyPr wrap="square" rtlCol="0">
                <a:spAutoFit/>
              </a:bodyPr>
              <a:lstStyle/>
              <a:p>
                <a:pPr marL="285750" indent="-285750">
                  <a:buFont typeface="Wingdings" panose="05000000000000000000" pitchFamily="2" charset="2"/>
                  <a:buChar char="Ø"/>
                </a:pPr>
                <a:r>
                  <a:rPr lang="en-US" sz="1800" b="0" i="0" u="none" strike="noStrike" baseline="0" dirty="0">
                    <a:latin typeface="Times-Roman"/>
                  </a:rPr>
                  <a:t>A relaxation step may decrease the value of the shortest-path estimate v.d and update v’s predecessor attribute v.</a:t>
                </a:r>
                <a14:m>
                  <m:oMath xmlns:m="http://schemas.openxmlformats.org/officeDocument/2006/math">
                    <m:r>
                      <a:rPr lang="en-IN" sz="1800" b="0" i="1" u="none" strike="noStrike" baseline="0" smtClean="0">
                        <a:latin typeface="Cambria Math" panose="02040503050406030204" pitchFamily="18" charset="0"/>
                        <a:ea typeface="Cambria Math" panose="02040503050406030204" pitchFamily="18" charset="0"/>
                      </a:rPr>
                      <m:t>𝜋</m:t>
                    </m:r>
                    <m:r>
                      <a:rPr lang="en-IN" sz="1800" b="0" i="1" u="none" strike="noStrike" baseline="0" smtClean="0">
                        <a:latin typeface="Cambria Math" panose="02040503050406030204" pitchFamily="18" charset="0"/>
                        <a:ea typeface="Cambria Math" panose="02040503050406030204" pitchFamily="18" charset="0"/>
                      </a:rPr>
                      <m:t>.</m:t>
                    </m:r>
                  </m:oMath>
                </a14:m>
                <a:endParaRPr lang="en-IN" sz="1800" b="0" i="0" u="none" strike="noStrike" baseline="0" dirty="0">
                  <a:latin typeface="Times-Roman"/>
                  <a:ea typeface="Cambria Math" panose="02040503050406030204" pitchFamily="18" charset="0"/>
                </a:endParaRPr>
              </a:p>
              <a:p>
                <a:endParaRPr lang="en-IN" dirty="0"/>
              </a:p>
              <a:p>
                <a:pPr marL="285750" indent="-285750">
                  <a:buFont typeface="Wingdings" panose="05000000000000000000" pitchFamily="2" charset="2"/>
                  <a:buChar char="Ø"/>
                </a:pPr>
                <a:r>
                  <a:rPr lang="en-IN" dirty="0"/>
                  <a:t>The following code  performs a relaxation step on edge(</a:t>
                </a:r>
                <a:r>
                  <a:rPr lang="en-IN" dirty="0" err="1"/>
                  <a:t>u,v</a:t>
                </a:r>
                <a:r>
                  <a:rPr lang="en-IN" dirty="0"/>
                  <a:t>) in O(1) time:</a:t>
                </a:r>
              </a:p>
            </p:txBody>
          </p:sp>
        </mc:Choice>
        <mc:Fallback xmlns="">
          <p:sp>
            <p:nvSpPr>
              <p:cNvPr id="12" name="TextBox 11">
                <a:extLst>
                  <a:ext uri="{FF2B5EF4-FFF2-40B4-BE49-F238E27FC236}">
                    <a16:creationId xmlns:a16="http://schemas.microsoft.com/office/drawing/2014/main" id="{9698B6DD-36EF-3696-444F-3E13ED2F4D8E}"/>
                  </a:ext>
                </a:extLst>
              </p:cNvPr>
              <p:cNvSpPr txBox="1">
                <a:spLocks noRot="1" noChangeAspect="1" noMove="1" noResize="1" noEditPoints="1" noAdjustHandles="1" noChangeArrowheads="1" noChangeShapeType="1" noTextEdit="1"/>
              </p:cNvSpPr>
              <p:nvPr/>
            </p:nvSpPr>
            <p:spPr>
              <a:xfrm>
                <a:off x="5979053" y="855846"/>
                <a:ext cx="6014164" cy="1477328"/>
              </a:xfrm>
              <a:prstGeom prst="rect">
                <a:avLst/>
              </a:prstGeom>
              <a:blipFill>
                <a:blip r:embed="rId7"/>
                <a:stretch>
                  <a:fillRect l="-710" t="-2058" r="-1318" b="-5350"/>
                </a:stretch>
              </a:blipFill>
            </p:spPr>
            <p:txBody>
              <a:bodyPr/>
              <a:lstStyle/>
              <a:p>
                <a:r>
                  <a:rPr lang="en-IN">
                    <a:noFill/>
                  </a:rPr>
                  <a:t> </a:t>
                </a:r>
              </a:p>
            </p:txBody>
          </p:sp>
        </mc:Fallback>
      </mc:AlternateContent>
      <p:pic>
        <p:nvPicPr>
          <p:cNvPr id="14" name="Picture 13" descr="A group of math symbols&#10;&#10;Description automatically generated">
            <a:extLst>
              <a:ext uri="{FF2B5EF4-FFF2-40B4-BE49-F238E27FC236}">
                <a16:creationId xmlns:a16="http://schemas.microsoft.com/office/drawing/2014/main" id="{4876922B-699A-E6F8-57FB-D6B7E718DF04}"/>
              </a:ext>
            </a:extLst>
          </p:cNvPr>
          <p:cNvPicPr>
            <a:picLocks noChangeAspect="1"/>
          </p:cNvPicPr>
          <p:nvPr/>
        </p:nvPicPr>
        <p:blipFill>
          <a:blip r:embed="rId8"/>
          <a:stretch>
            <a:fillRect/>
          </a:stretch>
        </p:blipFill>
        <p:spPr>
          <a:xfrm>
            <a:off x="6096000" y="2456428"/>
            <a:ext cx="2961323" cy="1280271"/>
          </a:xfrm>
          <a:prstGeom prst="rect">
            <a:avLst/>
          </a:prstGeom>
        </p:spPr>
      </p:pic>
      <p:pic>
        <p:nvPicPr>
          <p:cNvPr id="16" name="Picture 15" descr="A group of numbers and symbols&#10;&#10;Description automatically generated with medium confidence">
            <a:extLst>
              <a:ext uri="{FF2B5EF4-FFF2-40B4-BE49-F238E27FC236}">
                <a16:creationId xmlns:a16="http://schemas.microsoft.com/office/drawing/2014/main" id="{795DB745-8751-DEEC-78BA-5A34245612F0}"/>
              </a:ext>
            </a:extLst>
          </p:cNvPr>
          <p:cNvPicPr>
            <a:picLocks noChangeAspect="1"/>
          </p:cNvPicPr>
          <p:nvPr/>
        </p:nvPicPr>
        <p:blipFill>
          <a:blip r:embed="rId9"/>
          <a:stretch>
            <a:fillRect/>
          </a:stretch>
        </p:blipFill>
        <p:spPr>
          <a:xfrm>
            <a:off x="5979053" y="4201589"/>
            <a:ext cx="5404080" cy="1944811"/>
          </a:xfrm>
          <a:prstGeom prst="rect">
            <a:avLst/>
          </a:prstGeom>
        </p:spPr>
      </p:pic>
      <p:sp>
        <p:nvSpPr>
          <p:cNvPr id="18" name="TextBox 17">
            <a:extLst>
              <a:ext uri="{FF2B5EF4-FFF2-40B4-BE49-F238E27FC236}">
                <a16:creationId xmlns:a16="http://schemas.microsoft.com/office/drawing/2014/main" id="{1D22BB7E-E9DA-9970-BA0B-B35E1AB2E449}"/>
              </a:ext>
            </a:extLst>
          </p:cNvPr>
          <p:cNvSpPr txBox="1"/>
          <p:nvPr/>
        </p:nvSpPr>
        <p:spPr>
          <a:xfrm>
            <a:off x="6096000" y="3825191"/>
            <a:ext cx="2961323" cy="369332"/>
          </a:xfrm>
          <a:prstGeom prst="rect">
            <a:avLst/>
          </a:prstGeom>
          <a:noFill/>
        </p:spPr>
        <p:txBody>
          <a:bodyPr wrap="square" rtlCol="0">
            <a:spAutoFit/>
          </a:bodyPr>
          <a:lstStyle/>
          <a:p>
            <a:pPr marL="285750" indent="-285750">
              <a:buFont typeface="Wingdings" panose="05000000000000000000" pitchFamily="2" charset="2"/>
              <a:buChar char="q"/>
            </a:pPr>
            <a:r>
              <a:rPr lang="en-IN" dirty="0"/>
              <a:t>Example:-</a:t>
            </a:r>
          </a:p>
        </p:txBody>
      </p:sp>
      <p:sp>
        <p:nvSpPr>
          <p:cNvPr id="2" name="TextBox 1">
            <a:extLst>
              <a:ext uri="{FF2B5EF4-FFF2-40B4-BE49-F238E27FC236}">
                <a16:creationId xmlns:a16="http://schemas.microsoft.com/office/drawing/2014/main" id="{03C7F99E-DF3C-0AEC-FBDA-99488D8F2446}"/>
              </a:ext>
            </a:extLst>
          </p:cNvPr>
          <p:cNvSpPr txBox="1"/>
          <p:nvPr/>
        </p:nvSpPr>
        <p:spPr>
          <a:xfrm>
            <a:off x="485774" y="195975"/>
            <a:ext cx="5610225" cy="477054"/>
          </a:xfrm>
          <a:prstGeom prst="rect">
            <a:avLst/>
          </a:prstGeom>
          <a:noFill/>
        </p:spPr>
        <p:txBody>
          <a:bodyPr wrap="square" rtlCol="0">
            <a:spAutoFit/>
          </a:bodyPr>
          <a:lstStyle/>
          <a:p>
            <a:r>
              <a:rPr lang="en-IN" sz="2500" dirty="0"/>
              <a:t>Principle Of Relaxation For Bellman-Ford</a:t>
            </a:r>
          </a:p>
        </p:txBody>
      </p:sp>
      <p:sp>
        <p:nvSpPr>
          <p:cNvPr id="7" name="Flowchart: Terminator 6">
            <a:extLst>
              <a:ext uri="{FF2B5EF4-FFF2-40B4-BE49-F238E27FC236}">
                <a16:creationId xmlns:a16="http://schemas.microsoft.com/office/drawing/2014/main" id="{C2128526-A1CD-9ACD-8E02-52D8EBC5C3EF}"/>
              </a:ext>
            </a:extLst>
          </p:cNvPr>
          <p:cNvSpPr/>
          <p:nvPr/>
        </p:nvSpPr>
        <p:spPr>
          <a:xfrm>
            <a:off x="369178" y="129983"/>
            <a:ext cx="5726821" cy="627712"/>
          </a:xfrm>
          <a:prstGeom prst="flowChartTerminator">
            <a:avLst/>
          </a:prstGeom>
          <a:solidFill>
            <a:schemeClr val="accent1">
              <a:alpha val="3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44765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B6A266F-F908-4089-C026-4C74EA75A5CB}"/>
              </a:ext>
            </a:extLst>
          </p:cNvPr>
          <p:cNvSpPr>
            <a:spLocks noGrp="1"/>
          </p:cNvSpPr>
          <p:nvPr>
            <p:ph type="sldNum" sz="quarter" idx="12"/>
          </p:nvPr>
        </p:nvSpPr>
        <p:spPr/>
        <p:txBody>
          <a:bodyPr/>
          <a:lstStyle/>
          <a:p>
            <a:fld id="{8C2E478F-E849-4A8C-AF1F-CBCC78A7CBFA}" type="slidenum">
              <a:rPr lang="en-US" smtClean="0"/>
              <a:t>8</a:t>
            </a:fld>
            <a:endParaRPr lang="en-US" dirty="0"/>
          </a:p>
        </p:txBody>
      </p:sp>
      <p:sp>
        <p:nvSpPr>
          <p:cNvPr id="3" name="TextBox 2">
            <a:extLst>
              <a:ext uri="{FF2B5EF4-FFF2-40B4-BE49-F238E27FC236}">
                <a16:creationId xmlns:a16="http://schemas.microsoft.com/office/drawing/2014/main" id="{473D7714-3440-E49F-4CF1-693BBB5C262A}"/>
              </a:ext>
            </a:extLst>
          </p:cNvPr>
          <p:cNvSpPr txBox="1"/>
          <p:nvPr/>
        </p:nvSpPr>
        <p:spPr>
          <a:xfrm>
            <a:off x="4129550" y="309921"/>
            <a:ext cx="4306528" cy="523220"/>
          </a:xfrm>
          <a:prstGeom prst="rect">
            <a:avLst/>
          </a:prstGeom>
          <a:gradFill>
            <a:gsLst>
              <a:gs pos="0">
                <a:schemeClr val="tx2"/>
              </a:gs>
              <a:gs pos="49000">
                <a:schemeClr val="accent1">
                  <a:lumMod val="45000"/>
                  <a:lumOff val="55000"/>
                </a:schemeClr>
              </a:gs>
              <a:gs pos="81120">
                <a:srgbClr val="E1B0B9"/>
              </a:gs>
              <a:gs pos="68000">
                <a:schemeClr val="accent1">
                  <a:lumMod val="45000"/>
                  <a:lumOff val="55000"/>
                </a:schemeClr>
              </a:gs>
              <a:gs pos="100000">
                <a:schemeClr val="accent1">
                  <a:lumMod val="30000"/>
                  <a:lumOff val="70000"/>
                </a:schemeClr>
              </a:gs>
            </a:gsLst>
            <a:lin ang="5400000" scaled="1"/>
          </a:gradFill>
        </p:spPr>
        <p:txBody>
          <a:bodyPr wrap="square" rtlCol="0">
            <a:spAutoFit/>
          </a:bodyPr>
          <a:lstStyle/>
          <a:p>
            <a:r>
              <a:rPr lang="en-IN" sz="2800" dirty="0"/>
              <a:t>Algorithm For Bellman-Ford</a:t>
            </a:r>
          </a:p>
        </p:txBody>
      </p:sp>
      <p:pic>
        <p:nvPicPr>
          <p:cNvPr id="6" name="Picture 5" descr="A white background with black text&#10;&#10;Description automatically generated">
            <a:extLst>
              <a:ext uri="{FF2B5EF4-FFF2-40B4-BE49-F238E27FC236}">
                <a16:creationId xmlns:a16="http://schemas.microsoft.com/office/drawing/2014/main" id="{12F03A69-2B2F-BF0E-3FC8-42C925BFB37A}"/>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a:off x="390092" y="973066"/>
            <a:ext cx="6505229" cy="5860362"/>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D1F4F76-353A-0690-61E7-2F71AF67A530}"/>
                  </a:ext>
                </a:extLst>
              </p:cNvPr>
              <p:cNvSpPr txBox="1"/>
              <p:nvPr/>
            </p:nvSpPr>
            <p:spPr>
              <a:xfrm>
                <a:off x="7007399" y="973066"/>
                <a:ext cx="4794508" cy="2446824"/>
              </a:xfrm>
              <a:prstGeom prst="rect">
                <a:avLst/>
              </a:prstGeom>
              <a:noFill/>
            </p:spPr>
            <p:txBody>
              <a:bodyPr wrap="square" rtlCol="0">
                <a:spAutoFit/>
              </a:bodyPr>
              <a:lstStyle/>
              <a:p>
                <a:pPr marL="457200" indent="-457200" algn="l">
                  <a:buFont typeface="Wingdings" panose="05000000000000000000" pitchFamily="2" charset="2"/>
                  <a:buChar char="Ø"/>
                </a:pPr>
                <a:r>
                  <a:rPr lang="en-US" sz="1700" b="0" i="0" u="none" strike="noStrike" baseline="0" dirty="0">
                    <a:latin typeface="Times-Roman"/>
                  </a:rPr>
                  <a:t>The algorithm relaxes edges, progressively decreasing an estimate </a:t>
                </a:r>
                <a:r>
                  <a:rPr lang="en-US" sz="1700" dirty="0">
                    <a:latin typeface="MT2MIT"/>
                  </a:rPr>
                  <a:t>v.</a:t>
                </a:r>
                <a:r>
                  <a:rPr lang="en-US" sz="1700" b="0" i="1" u="none" strike="noStrike" baseline="0" dirty="0">
                    <a:latin typeface="Times-Italic"/>
                  </a:rPr>
                  <a:t>d </a:t>
                </a:r>
                <a:r>
                  <a:rPr lang="en-US" sz="1700" b="0" i="0" u="none" strike="noStrike" baseline="0" dirty="0">
                    <a:latin typeface="Times-Roman"/>
                  </a:rPr>
                  <a:t>on the</a:t>
                </a:r>
                <a:r>
                  <a:rPr lang="en-US" sz="1700" b="0" i="0" u="none" strike="noStrike" dirty="0">
                    <a:latin typeface="Times-Roman"/>
                  </a:rPr>
                  <a:t> </a:t>
                </a:r>
                <a:r>
                  <a:rPr lang="en-US" sz="1700" b="0" i="0" u="none" strike="noStrike" baseline="0" dirty="0">
                    <a:latin typeface="Times-Roman"/>
                  </a:rPr>
                  <a:t>weight of a shortest path from the source </a:t>
                </a:r>
                <a:r>
                  <a:rPr lang="en-US" sz="1700" b="0" i="0" u="none" strike="noStrike" baseline="0" dirty="0">
                    <a:latin typeface="MT2MIT"/>
                  </a:rPr>
                  <a:t>s </a:t>
                </a:r>
                <a:r>
                  <a:rPr lang="en-US" sz="1700" b="0" i="0" u="none" strike="noStrike" baseline="0" dirty="0">
                    <a:latin typeface="Times-Roman"/>
                  </a:rPr>
                  <a:t>to each vertex </a:t>
                </a:r>
                <a:r>
                  <a:rPr lang="en-US" sz="1700" b="0" i="0" u="none" strike="noStrike" baseline="0" dirty="0">
                    <a:latin typeface="MT2MIT"/>
                  </a:rPr>
                  <a:t> </a:t>
                </a:r>
                <a:r>
                  <a:rPr lang="en-US" sz="1700" dirty="0">
                    <a:latin typeface="MT2SYT"/>
                  </a:rPr>
                  <a:t>v</a:t>
                </a:r>
                <a14:m>
                  <m:oMath xmlns:m="http://schemas.openxmlformats.org/officeDocument/2006/math">
                    <m:r>
                      <a:rPr lang="en-US" sz="1700" i="1" smtClean="0">
                        <a:latin typeface="Cambria Math" panose="02040503050406030204" pitchFamily="18" charset="0"/>
                        <a:ea typeface="Cambria Math" panose="02040503050406030204" pitchFamily="18" charset="0"/>
                      </a:rPr>
                      <m:t>𝜖</m:t>
                    </m:r>
                  </m:oMath>
                </a14:m>
                <a:r>
                  <a:rPr lang="en-US" sz="1700" b="0" i="0" u="none" strike="noStrike" baseline="0" dirty="0">
                    <a:latin typeface="MT2MIT"/>
                  </a:rPr>
                  <a:t>V </a:t>
                </a:r>
                <a:r>
                  <a:rPr lang="en-US" sz="1700" b="0" i="0" u="none" strike="noStrike" baseline="0" dirty="0">
                    <a:latin typeface="Times-Roman"/>
                  </a:rPr>
                  <a:t>until it achieves the actual shortest-path weight </a:t>
                </a:r>
                <a14:m>
                  <m:oMath xmlns:m="http://schemas.openxmlformats.org/officeDocument/2006/math">
                    <m:r>
                      <a:rPr lang="en-US" sz="1700" b="0" i="0" u="none" strike="noStrike" baseline="0" smtClean="0">
                        <a:latin typeface="Cambria Math" panose="02040503050406030204" pitchFamily="18" charset="0"/>
                      </a:rPr>
                      <m:t>𝛿</m:t>
                    </m:r>
                    <m:r>
                      <a:rPr lang="en-IN" sz="1700" b="0" i="0" u="none" strike="noStrike" baseline="0" smtClean="0">
                        <a:latin typeface="Cambria Math" panose="02040503050406030204" pitchFamily="18" charset="0"/>
                      </a:rPr>
                      <m:t>(</m:t>
                    </m:r>
                    <m:r>
                      <m:rPr>
                        <m:sty m:val="p"/>
                      </m:rPr>
                      <a:rPr lang="en-IN" sz="1700" b="0" i="0" u="none" strike="noStrike" baseline="0" smtClean="0">
                        <a:latin typeface="Cambria Math" panose="02040503050406030204" pitchFamily="18" charset="0"/>
                      </a:rPr>
                      <m:t>s</m:t>
                    </m:r>
                    <m:r>
                      <a:rPr lang="en-IN" sz="1700" b="0" i="0" u="none" strike="noStrike" baseline="0" smtClean="0">
                        <a:latin typeface="Cambria Math" panose="02040503050406030204" pitchFamily="18" charset="0"/>
                      </a:rPr>
                      <m:t>,</m:t>
                    </m:r>
                    <m:r>
                      <m:rPr>
                        <m:sty m:val="p"/>
                      </m:rPr>
                      <a:rPr lang="en-IN" sz="1700" b="0" i="0" u="none" strike="noStrike" baseline="0" smtClean="0">
                        <a:latin typeface="Cambria Math" panose="02040503050406030204" pitchFamily="18" charset="0"/>
                      </a:rPr>
                      <m:t>v</m:t>
                    </m:r>
                    <m:r>
                      <a:rPr lang="en-IN" sz="1700" b="0" i="0" u="none" strike="noStrike" baseline="0" smtClean="0">
                        <a:latin typeface="Cambria Math" panose="02040503050406030204" pitchFamily="18" charset="0"/>
                      </a:rPr>
                      <m:t>)</m:t>
                    </m:r>
                  </m:oMath>
                </a14:m>
                <a:r>
                  <a:rPr lang="en-US" sz="1700" b="0" i="0" u="none" strike="noStrike" baseline="0" dirty="0">
                    <a:latin typeface="Times-Roman"/>
                  </a:rPr>
                  <a:t>.</a:t>
                </a:r>
              </a:p>
              <a:p>
                <a:pPr algn="l"/>
                <a:endParaRPr lang="en-US" sz="1700" b="0" i="0" u="none" strike="noStrike" baseline="0" dirty="0">
                  <a:latin typeface="Times-Roman"/>
                </a:endParaRPr>
              </a:p>
              <a:p>
                <a:pPr marL="457200" indent="-457200" algn="l">
                  <a:buFont typeface="Wingdings" panose="05000000000000000000" pitchFamily="2" charset="2"/>
                  <a:buChar char="Ø"/>
                </a:pPr>
                <a:r>
                  <a:rPr lang="en-US" sz="1700" b="0" i="0" u="none" strike="noStrike" baseline="0" dirty="0">
                    <a:latin typeface="Times-Roman"/>
                  </a:rPr>
                  <a:t> The algorithm returns TRUE if and only if the graph contains no negative-weight cycles that are reachable from the source.</a:t>
                </a:r>
                <a:endParaRPr lang="en-IN" sz="1700" dirty="0"/>
              </a:p>
            </p:txBody>
          </p:sp>
        </mc:Choice>
        <mc:Fallback xmlns="">
          <p:sp>
            <p:nvSpPr>
              <p:cNvPr id="10" name="TextBox 9">
                <a:extLst>
                  <a:ext uri="{FF2B5EF4-FFF2-40B4-BE49-F238E27FC236}">
                    <a16:creationId xmlns:a16="http://schemas.microsoft.com/office/drawing/2014/main" id="{0D1F4F76-353A-0690-61E7-2F71AF67A530}"/>
                  </a:ext>
                </a:extLst>
              </p:cNvPr>
              <p:cNvSpPr txBox="1">
                <a:spLocks noRot="1" noChangeAspect="1" noMove="1" noResize="1" noEditPoints="1" noAdjustHandles="1" noChangeArrowheads="1" noChangeShapeType="1" noTextEdit="1"/>
              </p:cNvSpPr>
              <p:nvPr/>
            </p:nvSpPr>
            <p:spPr>
              <a:xfrm>
                <a:off x="7007399" y="973066"/>
                <a:ext cx="4794508" cy="2446824"/>
              </a:xfrm>
              <a:prstGeom prst="rect">
                <a:avLst/>
              </a:prstGeom>
              <a:blipFill>
                <a:blip r:embed="rId4"/>
                <a:stretch>
                  <a:fillRect l="-636" t="-748" b="-2494"/>
                </a:stretch>
              </a:blipFill>
            </p:spPr>
            <p:txBody>
              <a:bodyPr/>
              <a:lstStyle/>
              <a:p>
                <a:r>
                  <a:rPr lang="en-IN">
                    <a:noFill/>
                  </a:rPr>
                  <a:t> </a:t>
                </a:r>
              </a:p>
            </p:txBody>
          </p:sp>
        </mc:Fallback>
      </mc:AlternateContent>
    </p:spTree>
    <p:extLst>
      <p:ext uri="{BB962C8B-B14F-4D97-AF65-F5344CB8AC3E}">
        <p14:creationId xmlns:p14="http://schemas.microsoft.com/office/powerpoint/2010/main" val="943430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screenshot of a computer&#10;&#10;Description automatically generated">
            <a:extLst>
              <a:ext uri="{FF2B5EF4-FFF2-40B4-BE49-F238E27FC236}">
                <a16:creationId xmlns:a16="http://schemas.microsoft.com/office/drawing/2014/main" id="{526A0E3A-C378-2FBF-12F0-A093F30F4E60}"/>
              </a:ext>
            </a:extLst>
          </p:cNvPr>
          <p:cNvPicPr>
            <a:picLocks noChangeAspect="1"/>
          </p:cNvPicPr>
          <p:nvPr/>
        </p:nvPicPr>
        <p:blipFill rotWithShape="1">
          <a:blip r:embed="rId2"/>
          <a:srcRect l="3435" r="2954" b="5960"/>
          <a:stretch/>
        </p:blipFill>
        <p:spPr>
          <a:xfrm>
            <a:off x="0" y="0"/>
            <a:ext cx="12188952" cy="6858000"/>
          </a:xfrm>
          <a:prstGeom prst="rect">
            <a:avLst/>
          </a:prstGeom>
        </p:spPr>
      </p:pic>
      <p:sp>
        <p:nvSpPr>
          <p:cNvPr id="3" name="Slide Number Placeholder 2">
            <a:extLst>
              <a:ext uri="{FF2B5EF4-FFF2-40B4-BE49-F238E27FC236}">
                <a16:creationId xmlns:a16="http://schemas.microsoft.com/office/drawing/2014/main" id="{FBDE7135-9153-4AEB-AC1F-4B951B7A76F2}"/>
              </a:ext>
            </a:extLst>
          </p:cNvPr>
          <p:cNvSpPr>
            <a:spLocks noGrp="1"/>
          </p:cNvSpPr>
          <p:nvPr>
            <p:ph type="sldNum" sz="quarter" idx="11"/>
          </p:nvPr>
        </p:nvSpPr>
        <p:spPr>
          <a:xfrm>
            <a:off x="8610600" y="6356350"/>
            <a:ext cx="2743200" cy="365125"/>
          </a:xfrm>
        </p:spPr>
        <p:txBody>
          <a:bodyPr vert="horz" lIns="91440" tIns="45720" rIns="91440" bIns="45720" rtlCol="0" anchor="ctr">
            <a:normAutofit/>
          </a:bodyPr>
          <a:lstStyle/>
          <a:p>
            <a:pPr>
              <a:spcAft>
                <a:spcPts val="600"/>
              </a:spcAft>
            </a:pPr>
            <a:fld id="{8C2E478F-E849-4A8C-AF1F-CBCC78A7CBFA}" type="slidenum">
              <a:rPr lang="en-US">
                <a:solidFill>
                  <a:srgbClr val="FFFFFF"/>
                </a:solidFill>
              </a:rPr>
              <a:pPr>
                <a:spcAft>
                  <a:spcPts val="600"/>
                </a:spcAft>
              </a:pPr>
              <a:t>9</a:t>
            </a:fld>
            <a:endParaRPr lang="en-US">
              <a:solidFill>
                <a:srgbClr val="FFFFFF"/>
              </a:solidFill>
            </a:endParaRPr>
          </a:p>
        </p:txBody>
      </p:sp>
      <p:sp>
        <p:nvSpPr>
          <p:cNvPr id="2" name="TextBox 1">
            <a:extLst>
              <a:ext uri="{FF2B5EF4-FFF2-40B4-BE49-F238E27FC236}">
                <a16:creationId xmlns:a16="http://schemas.microsoft.com/office/drawing/2014/main" id="{3379C435-F84B-8D7B-3484-4CA3883BDA52}"/>
              </a:ext>
            </a:extLst>
          </p:cNvPr>
          <p:cNvSpPr txBox="1"/>
          <p:nvPr/>
        </p:nvSpPr>
        <p:spPr>
          <a:xfrm>
            <a:off x="367748" y="884583"/>
            <a:ext cx="10446025" cy="369332"/>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869470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03DC322E-F4FA-DE9C-5D31-CFDB1364FB4A}"/>
              </a:ext>
            </a:extLst>
          </p:cNvPr>
          <p:cNvSpPr>
            <a:spLocks noGrp="1"/>
          </p:cNvSpPr>
          <p:nvPr>
            <p:ph type="sldNum" sz="quarter" idx="16"/>
          </p:nvPr>
        </p:nvSpPr>
        <p:spPr/>
        <p:txBody>
          <a:bodyPr/>
          <a:lstStyle/>
          <a:p>
            <a:fld id="{8C2E478F-E849-4A8C-AF1F-CBCC78A7CBFA}" type="slidenum">
              <a:rPr lang="en-US" smtClean="0"/>
              <a:t>10</a:t>
            </a:fld>
            <a:endParaRPr lang="en-US" dirty="0"/>
          </a:p>
        </p:txBody>
      </p:sp>
      <p:pic>
        <p:nvPicPr>
          <p:cNvPr id="11" name="Picture 10" descr="A screenshot of a computer&#10;&#10;Description automatically generated">
            <a:extLst>
              <a:ext uri="{FF2B5EF4-FFF2-40B4-BE49-F238E27FC236}">
                <a16:creationId xmlns:a16="http://schemas.microsoft.com/office/drawing/2014/main" id="{8E5A07F5-FF0D-2529-A580-0A811B813C76}"/>
              </a:ext>
            </a:extLst>
          </p:cNvPr>
          <p:cNvPicPr>
            <a:picLocks noChangeAspect="1"/>
          </p:cNvPicPr>
          <p:nvPr/>
        </p:nvPicPr>
        <p:blipFill rotWithShape="1">
          <a:blip r:embed="rId2"/>
          <a:srcRect l="5624" t="3020" r="3642" b="10748"/>
          <a:stretch/>
        </p:blipFill>
        <p:spPr>
          <a:xfrm>
            <a:off x="487016" y="0"/>
            <a:ext cx="11062253" cy="5913783"/>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7B66C62-061E-8EE6-80A4-F68E352266A6}"/>
                  </a:ext>
                </a:extLst>
              </p14:cNvPr>
              <p14:cNvContentPartPr/>
              <p14:nvPr/>
            </p14:nvContentPartPr>
            <p14:xfrm>
              <a:off x="1549120" y="319960"/>
              <a:ext cx="360" cy="48600"/>
            </p14:xfrm>
          </p:contentPart>
        </mc:Choice>
        <mc:Fallback xmlns="">
          <p:pic>
            <p:nvPicPr>
              <p:cNvPr id="2" name="Ink 1">
                <a:extLst>
                  <a:ext uri="{FF2B5EF4-FFF2-40B4-BE49-F238E27FC236}">
                    <a16:creationId xmlns:a16="http://schemas.microsoft.com/office/drawing/2014/main" id="{77B66C62-061E-8EE6-80A4-F68E352266A6}"/>
                  </a:ext>
                </a:extLst>
              </p:cNvPr>
              <p:cNvPicPr/>
              <p:nvPr/>
            </p:nvPicPr>
            <p:blipFill>
              <a:blip r:embed="rId4"/>
              <a:stretch>
                <a:fillRect/>
              </a:stretch>
            </p:blipFill>
            <p:spPr>
              <a:xfrm>
                <a:off x="1486480" y="256960"/>
                <a:ext cx="1260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B4F1E6A6-403B-7427-E8D3-ABF2A43239E7}"/>
                  </a:ext>
                </a:extLst>
              </p14:cNvPr>
              <p14:cNvContentPartPr/>
              <p14:nvPr/>
            </p14:nvContentPartPr>
            <p14:xfrm>
              <a:off x="904720" y="568440"/>
              <a:ext cx="1923840" cy="428400"/>
            </p14:xfrm>
          </p:contentPart>
        </mc:Choice>
        <mc:Fallback xmlns="">
          <p:pic>
            <p:nvPicPr>
              <p:cNvPr id="3" name="Ink 2">
                <a:extLst>
                  <a:ext uri="{FF2B5EF4-FFF2-40B4-BE49-F238E27FC236}">
                    <a16:creationId xmlns:a16="http://schemas.microsoft.com/office/drawing/2014/main" id="{B4F1E6A6-403B-7427-E8D3-ABF2A43239E7}"/>
                  </a:ext>
                </a:extLst>
              </p:cNvPr>
              <p:cNvPicPr/>
              <p:nvPr/>
            </p:nvPicPr>
            <p:blipFill>
              <a:blip r:embed="rId6"/>
              <a:stretch>
                <a:fillRect/>
              </a:stretch>
            </p:blipFill>
            <p:spPr>
              <a:xfrm>
                <a:off x="842080" y="505800"/>
                <a:ext cx="2049480" cy="554040"/>
              </a:xfrm>
              <a:prstGeom prst="rect">
                <a:avLst/>
              </a:prstGeom>
            </p:spPr>
          </p:pic>
        </mc:Fallback>
      </mc:AlternateContent>
      <p:sp>
        <p:nvSpPr>
          <p:cNvPr id="4" name="TextBox 3">
            <a:extLst>
              <a:ext uri="{FF2B5EF4-FFF2-40B4-BE49-F238E27FC236}">
                <a16:creationId xmlns:a16="http://schemas.microsoft.com/office/drawing/2014/main" id="{4093AC78-DD57-DD6B-3930-0216373BF2CD}"/>
              </a:ext>
            </a:extLst>
          </p:cNvPr>
          <p:cNvSpPr txBox="1"/>
          <p:nvPr/>
        </p:nvSpPr>
        <p:spPr>
          <a:xfrm>
            <a:off x="782320" y="407293"/>
            <a:ext cx="1245021" cy="477054"/>
          </a:xfrm>
          <a:prstGeom prst="rect">
            <a:avLst/>
          </a:prstGeom>
          <a:noFill/>
        </p:spPr>
        <p:txBody>
          <a:bodyPr wrap="none" rtlCol="0">
            <a:spAutoFit/>
          </a:bodyPr>
          <a:lstStyle/>
          <a:p>
            <a:r>
              <a:rPr lang="en-IN" sz="2500" dirty="0"/>
              <a:t>Result :-</a:t>
            </a:r>
          </a:p>
        </p:txBody>
      </p:sp>
    </p:spTree>
    <p:extLst>
      <p:ext uri="{BB962C8B-B14F-4D97-AF65-F5344CB8AC3E}">
        <p14:creationId xmlns:p14="http://schemas.microsoft.com/office/powerpoint/2010/main" val="198647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0" y="-2667000"/>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sp>
        <p:nvSpPr>
          <p:cNvPr id="2" name="TextBox 1">
            <a:extLst>
              <a:ext uri="{FF2B5EF4-FFF2-40B4-BE49-F238E27FC236}">
                <a16:creationId xmlns:a16="http://schemas.microsoft.com/office/drawing/2014/main" id="{59929916-D2DA-54FD-157B-92B641D351C6}"/>
              </a:ext>
            </a:extLst>
          </p:cNvPr>
          <p:cNvSpPr txBox="1"/>
          <p:nvPr/>
        </p:nvSpPr>
        <p:spPr>
          <a:xfrm>
            <a:off x="4945224" y="4208106"/>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 id="{969BE826-8665-45F1-A77E-2C1BF61E0D92}" vid="{76896FC0-3EF9-4C10-B34C-BB4B0D9C6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99E4EAC9-33DC-4CF0-BA31-C98F61CE4785}">
  <ds:schemaRefs>
    <ds:schemaRef ds:uri="http://schemas.microsoft.com/sharepoint/v3/contenttype/forms"/>
  </ds:schemaRefs>
</ds:datastoreItem>
</file>

<file path=customXml/itemProps2.xml><?xml version="1.0" encoding="utf-8"?>
<ds:datastoreItem xmlns:ds="http://schemas.openxmlformats.org/officeDocument/2006/customXml" ds:itemID="{A3D5DB56-3A71-4638-9571-EE877FD66E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002A8ED-1331-4C1D-8649-743D7BE164D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TM04033921[[fn=Damask]]</Template>
  <TotalTime>633</TotalTime>
  <Words>1018</Words>
  <Application>Microsoft Office PowerPoint</Application>
  <PresentationFormat>Widescreen</PresentationFormat>
  <Paragraphs>80</Paragraphs>
  <Slides>11</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11</vt:i4>
      </vt:variant>
    </vt:vector>
  </HeadingPairs>
  <TitlesOfParts>
    <vt:vector size="26" baseType="lpstr">
      <vt:lpstr>Aharoni</vt:lpstr>
      <vt:lpstr>-apple-system</vt:lpstr>
      <vt:lpstr>Arial</vt:lpstr>
      <vt:lpstr>Biome Light</vt:lpstr>
      <vt:lpstr>Calibri</vt:lpstr>
      <vt:lpstr>Calibri Light</vt:lpstr>
      <vt:lpstr>Cambria Math</vt:lpstr>
      <vt:lpstr>MT2MIT</vt:lpstr>
      <vt:lpstr>MT2SYT</vt:lpstr>
      <vt:lpstr>Nunito</vt:lpstr>
      <vt:lpstr>Times-BoldItalic</vt:lpstr>
      <vt:lpstr>Times-Italic</vt:lpstr>
      <vt:lpstr>Times-Roman</vt:lpstr>
      <vt:lpstr>Wingdings</vt:lpstr>
      <vt:lpstr>Office Theme</vt:lpstr>
      <vt:lpstr>Bellman-ford</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Bellman-ford</dc:title>
  <dc:creator>suraj jude</dc:creator>
  <cp:lastModifiedBy>harsh gorantiwar</cp:lastModifiedBy>
  <cp:revision>13</cp:revision>
  <dcterms:created xsi:type="dcterms:W3CDTF">2024-02-09T11:42:05Z</dcterms:created>
  <dcterms:modified xsi:type="dcterms:W3CDTF">2024-04-20T03:13:15Z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